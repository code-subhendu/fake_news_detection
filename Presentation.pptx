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17.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5" r:id="rId1"/>
  </p:sldMasterIdLst>
  <p:sldIdLst>
    <p:sldId id="256" r:id="rId2"/>
    <p:sldId id="276" r:id="rId3"/>
    <p:sldId id="275" r:id="rId4"/>
    <p:sldId id="257" r:id="rId5"/>
    <p:sldId id="258" r:id="rId6"/>
    <p:sldId id="259" r:id="rId7"/>
    <p:sldId id="277" r:id="rId8"/>
    <p:sldId id="278" r:id="rId9"/>
    <p:sldId id="282" r:id="rId10"/>
    <p:sldId id="289" r:id="rId11"/>
    <p:sldId id="279" r:id="rId12"/>
    <p:sldId id="285" r:id="rId13"/>
    <p:sldId id="287" r:id="rId14"/>
    <p:sldId id="293" r:id="rId15"/>
    <p:sldId id="292" r:id="rId16"/>
    <p:sldId id="295" r:id="rId17"/>
    <p:sldId id="294" r:id="rId18"/>
    <p:sldId id="262" r:id="rId19"/>
    <p:sldId id="291" r:id="rId20"/>
    <p:sldId id="281" r:id="rId21"/>
    <p:sldId id="286" r:id="rId22"/>
    <p:sldId id="272" r:id="rId23"/>
    <p:sldId id="273" r:id="rId24"/>
    <p:sldId id="288" r:id="rId25"/>
    <p:sldId id="274" r:id="rId2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p:cViewPr varScale="1">
        <p:scale>
          <a:sx n="81" d="100"/>
          <a:sy n="81" d="100"/>
        </p:scale>
        <p:origin x="907"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90596-ADB5-9147-58A8-C08534FAF2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78E77C5-52FD-076C-BF08-8A0C132B29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DFD05B-20DE-EEAB-FA47-F2D3D7234E48}"/>
              </a:ext>
            </a:extLst>
          </p:cNvPr>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a:extLst>
              <a:ext uri="{FF2B5EF4-FFF2-40B4-BE49-F238E27FC236}">
                <a16:creationId xmlns:a16="http://schemas.microsoft.com/office/drawing/2014/main" id="{C4C59C7B-827D-CAA4-A78E-184F1AC761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B35B3F-B48E-7A64-131C-6B9016E8CF57}"/>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11635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C78AC-0EB9-7018-4F57-A00D43D037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596B85-6228-01E1-C4E4-C107957DF4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A4A358-DE31-32C4-F7E4-F1F1A120A8DA}"/>
              </a:ext>
            </a:extLst>
          </p:cNvPr>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a:extLst>
              <a:ext uri="{FF2B5EF4-FFF2-40B4-BE49-F238E27FC236}">
                <a16:creationId xmlns:a16="http://schemas.microsoft.com/office/drawing/2014/main" id="{D06FE301-8D60-C1D1-7FA3-A892333955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3EC7FB-837D-E75D-58BC-F582DFDECBC5}"/>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33726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59D3-520E-F440-A99A-31CBCC18F3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75B3180-0ACC-ADC5-FFE8-C54A9FFDEC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4D3E35-803F-1341-9F27-EC98B8CE6F78}"/>
              </a:ext>
            </a:extLst>
          </p:cNvPr>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a:extLst>
              <a:ext uri="{FF2B5EF4-FFF2-40B4-BE49-F238E27FC236}">
                <a16:creationId xmlns:a16="http://schemas.microsoft.com/office/drawing/2014/main" id="{09250C8F-E711-C1FF-6CC0-69A6258928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80BB95-65EB-B708-EAD1-34BCAFBF346B}"/>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064709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6047D-8583-6E83-FE95-61E0031868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C1AEF0-D66D-8151-49A1-A6F54D6AC3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C245AD-7F10-32FB-4399-87FC09D22F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364EBF-22BD-5F72-080B-1D3C336FFAAE}"/>
              </a:ext>
            </a:extLst>
          </p:cNvPr>
          <p:cNvSpPr>
            <a:spLocks noGrp="1"/>
          </p:cNvSpPr>
          <p:nvPr>
            <p:ph type="dt" sz="half" idx="10"/>
          </p:nvPr>
        </p:nvSpPr>
        <p:spPr/>
        <p:txBody>
          <a:bodyPr/>
          <a:lstStyle/>
          <a:p>
            <a:fld id="{1D8BD707-D9CF-40AE-B4C6-C98DA3205C09}" type="datetimeFigureOut">
              <a:rPr lang="en-US" smtClean="0"/>
              <a:t>6/14/2026</a:t>
            </a:fld>
            <a:endParaRPr lang="en-US"/>
          </a:p>
        </p:txBody>
      </p:sp>
      <p:sp>
        <p:nvSpPr>
          <p:cNvPr id="6" name="Footer Placeholder 5">
            <a:extLst>
              <a:ext uri="{FF2B5EF4-FFF2-40B4-BE49-F238E27FC236}">
                <a16:creationId xmlns:a16="http://schemas.microsoft.com/office/drawing/2014/main" id="{747AD79F-BB26-1D0D-10BC-1392329107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D2687F-1E73-978A-1BDE-48AB815A6EF6}"/>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807211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B50C3-AA1F-7BB2-EDEC-00F7C6ECBA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631D70-403E-7DB9-1AEE-BCD8392E94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E770A6-A6AD-7AF9-1B1D-68FF7A6E75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44206D-F712-EE74-453A-6363A69FC1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ABF259-FBFC-546A-7195-E14ABF6381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187C43-228A-9A61-9754-4F6F14EFD7C1}"/>
              </a:ext>
            </a:extLst>
          </p:cNvPr>
          <p:cNvSpPr>
            <a:spLocks noGrp="1"/>
          </p:cNvSpPr>
          <p:nvPr>
            <p:ph type="dt" sz="half" idx="10"/>
          </p:nvPr>
        </p:nvSpPr>
        <p:spPr/>
        <p:txBody>
          <a:bodyPr/>
          <a:lstStyle/>
          <a:p>
            <a:fld id="{1D8BD707-D9CF-40AE-B4C6-C98DA3205C09}" type="datetimeFigureOut">
              <a:rPr lang="en-US" smtClean="0"/>
              <a:t>6/14/2026</a:t>
            </a:fld>
            <a:endParaRPr lang="en-US"/>
          </a:p>
        </p:txBody>
      </p:sp>
      <p:sp>
        <p:nvSpPr>
          <p:cNvPr id="8" name="Footer Placeholder 7">
            <a:extLst>
              <a:ext uri="{FF2B5EF4-FFF2-40B4-BE49-F238E27FC236}">
                <a16:creationId xmlns:a16="http://schemas.microsoft.com/office/drawing/2014/main" id="{74A46882-BFA2-1C2B-6712-906512F248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0A1EC0E-7949-0D5A-7EA4-5AE0DDCB982B}"/>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800025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56D1E-AA69-2FAF-9D56-9D6A79A8DF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624AF63-FBDD-08BD-4421-D737E3540F68}"/>
              </a:ext>
            </a:extLst>
          </p:cNvPr>
          <p:cNvSpPr>
            <a:spLocks noGrp="1"/>
          </p:cNvSpPr>
          <p:nvPr>
            <p:ph type="dt" sz="half" idx="10"/>
          </p:nvPr>
        </p:nvSpPr>
        <p:spPr/>
        <p:txBody>
          <a:bodyPr/>
          <a:lstStyle/>
          <a:p>
            <a:fld id="{1D8BD707-D9CF-40AE-B4C6-C98DA3205C09}" type="datetimeFigureOut">
              <a:rPr lang="en-US" smtClean="0"/>
              <a:t>6/14/2026</a:t>
            </a:fld>
            <a:endParaRPr lang="en-US"/>
          </a:p>
        </p:txBody>
      </p:sp>
      <p:sp>
        <p:nvSpPr>
          <p:cNvPr id="4" name="Footer Placeholder 3">
            <a:extLst>
              <a:ext uri="{FF2B5EF4-FFF2-40B4-BE49-F238E27FC236}">
                <a16:creationId xmlns:a16="http://schemas.microsoft.com/office/drawing/2014/main" id="{75EF3FB6-7A16-5018-F97D-1223AC86A3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E29580B-448D-E127-6AF0-B2B8EACEBE8D}"/>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665279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FD67DD-A83A-75CB-A3BB-44DDABB05F47}"/>
              </a:ext>
            </a:extLst>
          </p:cNvPr>
          <p:cNvSpPr>
            <a:spLocks noGrp="1"/>
          </p:cNvSpPr>
          <p:nvPr>
            <p:ph type="dt" sz="half" idx="10"/>
          </p:nvPr>
        </p:nvSpPr>
        <p:spPr/>
        <p:txBody>
          <a:bodyPr/>
          <a:lstStyle/>
          <a:p>
            <a:fld id="{1D8BD707-D9CF-40AE-B4C6-C98DA3205C09}" type="datetimeFigureOut">
              <a:rPr lang="en-US" smtClean="0"/>
              <a:t>6/14/2026</a:t>
            </a:fld>
            <a:endParaRPr lang="en-US"/>
          </a:p>
        </p:txBody>
      </p:sp>
      <p:sp>
        <p:nvSpPr>
          <p:cNvPr id="3" name="Footer Placeholder 2">
            <a:extLst>
              <a:ext uri="{FF2B5EF4-FFF2-40B4-BE49-F238E27FC236}">
                <a16:creationId xmlns:a16="http://schemas.microsoft.com/office/drawing/2014/main" id="{85EE1CA4-68FC-E815-8613-E220F648D8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DF260C-36A0-CBD2-444A-B0AAF65A1AF9}"/>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828533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033C8-E782-8CAF-7867-6DF0D2E0E9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84830E-ACF0-A523-F549-FAC0DB11AF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9C4122-C3B9-2C73-EA58-7CF6F64309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91CD00-8B6E-8768-ABCC-080D7A2CF9DD}"/>
              </a:ext>
            </a:extLst>
          </p:cNvPr>
          <p:cNvSpPr>
            <a:spLocks noGrp="1"/>
          </p:cNvSpPr>
          <p:nvPr>
            <p:ph type="dt" sz="half" idx="10"/>
          </p:nvPr>
        </p:nvSpPr>
        <p:spPr/>
        <p:txBody>
          <a:bodyPr/>
          <a:lstStyle/>
          <a:p>
            <a:fld id="{1D8BD707-D9CF-40AE-B4C6-C98DA3205C09}" type="datetimeFigureOut">
              <a:rPr lang="en-US" smtClean="0"/>
              <a:t>6/14/2026</a:t>
            </a:fld>
            <a:endParaRPr lang="en-US"/>
          </a:p>
        </p:txBody>
      </p:sp>
      <p:sp>
        <p:nvSpPr>
          <p:cNvPr id="6" name="Footer Placeholder 5">
            <a:extLst>
              <a:ext uri="{FF2B5EF4-FFF2-40B4-BE49-F238E27FC236}">
                <a16:creationId xmlns:a16="http://schemas.microsoft.com/office/drawing/2014/main" id="{164F5996-C507-EC38-32CC-A2DAD9E8C5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E5FD3E-8216-AF73-51C6-68B7757E2C49}"/>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11934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39ECB-F051-5466-BB4D-3E8F74C2D2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FFD2846-A20E-BA30-96C0-085E8908AF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FE00FD-8E2F-F094-6F34-21C75F9A99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6ADD09-CF57-63DA-F1A8-FCB1EAA8C862}"/>
              </a:ext>
            </a:extLst>
          </p:cNvPr>
          <p:cNvSpPr>
            <a:spLocks noGrp="1"/>
          </p:cNvSpPr>
          <p:nvPr>
            <p:ph type="dt" sz="half" idx="10"/>
          </p:nvPr>
        </p:nvSpPr>
        <p:spPr/>
        <p:txBody>
          <a:bodyPr/>
          <a:lstStyle/>
          <a:p>
            <a:fld id="{1D8BD707-D9CF-40AE-B4C6-C98DA3205C09}" type="datetimeFigureOut">
              <a:rPr lang="en-US" smtClean="0"/>
              <a:t>6/14/2026</a:t>
            </a:fld>
            <a:endParaRPr lang="en-US"/>
          </a:p>
        </p:txBody>
      </p:sp>
      <p:sp>
        <p:nvSpPr>
          <p:cNvPr id="6" name="Footer Placeholder 5">
            <a:extLst>
              <a:ext uri="{FF2B5EF4-FFF2-40B4-BE49-F238E27FC236}">
                <a16:creationId xmlns:a16="http://schemas.microsoft.com/office/drawing/2014/main" id="{3318180A-BBFA-294F-C445-D65B454495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96124A-1F81-CA4F-36A1-104BAC1F5403}"/>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8036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3EFE-38D4-717C-DA5E-284290C93AC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C6087A-FF00-DB01-5D28-A5C1437094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271F8C-6DF3-273C-93EC-642E208F5DDA}"/>
              </a:ext>
            </a:extLst>
          </p:cNvPr>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a:extLst>
              <a:ext uri="{FF2B5EF4-FFF2-40B4-BE49-F238E27FC236}">
                <a16:creationId xmlns:a16="http://schemas.microsoft.com/office/drawing/2014/main" id="{DF771151-F706-BCC8-3835-7057DA32DF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132F12-F862-FC27-5E98-FE7D7E597D2B}"/>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111635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D12956-DC6F-67C2-083D-AEC85BF6A5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597EAF9-D89D-10FE-F9DE-7B6F928D4F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D18A18-C6E2-B23A-B5B1-E8CC9295AA9C}"/>
              </a:ext>
            </a:extLst>
          </p:cNvPr>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a:extLst>
              <a:ext uri="{FF2B5EF4-FFF2-40B4-BE49-F238E27FC236}">
                <a16:creationId xmlns:a16="http://schemas.microsoft.com/office/drawing/2014/main" id="{F40CAA59-7731-E0A0-149F-058E24F860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8BFB99-CCDB-3872-C30B-F598CA153CC6}"/>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337928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6FB5F8-ED6E-10FD-5D21-9407CDB38D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AAD784-0903-BB06-3C86-3476F9B35A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C9120A-A1B8-1431-EBA8-1DC4AB7F7C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8BD707-D9CF-40AE-B4C6-C98DA3205C09}" type="datetimeFigureOut">
              <a:rPr lang="en-US" smtClean="0"/>
              <a:t>6/14/2026</a:t>
            </a:fld>
            <a:endParaRPr lang="en-US"/>
          </a:p>
        </p:txBody>
      </p:sp>
      <p:sp>
        <p:nvSpPr>
          <p:cNvPr id="5" name="Footer Placeholder 4">
            <a:extLst>
              <a:ext uri="{FF2B5EF4-FFF2-40B4-BE49-F238E27FC236}">
                <a16:creationId xmlns:a16="http://schemas.microsoft.com/office/drawing/2014/main" id="{EF1E3A24-C3FC-DAEF-B832-B2EED79EF2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C0C3858-B291-683D-B81C-0635161D9B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1392189447"/>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www.sciencedirect.com/science/article/pii/S2405844024012751" TargetMode="External"/><Relationship Id="rId2" Type="http://schemas.openxmlformats.org/officeDocument/2006/relationships/hyperlink" Target="https://www.sciencedirect.com/science/article/pii/S2590123025008291" TargetMode="External"/><Relationship Id="rId1" Type="http://schemas.openxmlformats.org/officeDocument/2006/relationships/slideLayout" Target="../slideLayouts/slideLayout7.xml"/><Relationship Id="rId4" Type="http://schemas.openxmlformats.org/officeDocument/2006/relationships/hyperlink" Target="https://journal.esrgroups.org/jes/article/view/8618/5775"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2B1ECA-F27F-3F80-60E7-4DB3226169D5}"/>
              </a:ext>
            </a:extLst>
          </p:cNvPr>
          <p:cNvSpPr/>
          <p:nvPr/>
        </p:nvSpPr>
        <p:spPr>
          <a:xfrm>
            <a:off x="-304800" y="-80382"/>
            <a:ext cx="12580372" cy="739558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object 2"/>
          <p:cNvSpPr txBox="1">
            <a:spLocks noGrp="1"/>
          </p:cNvSpPr>
          <p:nvPr>
            <p:ph type="title"/>
          </p:nvPr>
        </p:nvSpPr>
        <p:spPr>
          <a:xfrm>
            <a:off x="4104203" y="417617"/>
            <a:ext cx="3983594" cy="391795"/>
          </a:xfrm>
          <a:prstGeom prst="rect">
            <a:avLst/>
          </a:prstGeom>
        </p:spPr>
        <p:txBody>
          <a:bodyPr vert="horz" wrap="square" lIns="0" tIns="12700" rIns="0" bIns="0" rtlCol="0">
            <a:spAutoFit/>
          </a:bodyPr>
          <a:lstStyle/>
          <a:p>
            <a:pPr marL="12700" algn="ctr">
              <a:lnSpc>
                <a:spcPct val="100000"/>
              </a:lnSpc>
              <a:spcBef>
                <a:spcPts val="100"/>
              </a:spcBef>
            </a:pPr>
            <a:r>
              <a:rPr sz="2400" b="0" dirty="0">
                <a:solidFill>
                  <a:srgbClr val="2E5496"/>
                </a:solidFill>
                <a:latin typeface="Calibri"/>
                <a:cs typeface="Calibri"/>
              </a:rPr>
              <a:t>Project</a:t>
            </a:r>
            <a:r>
              <a:rPr sz="2400" b="0" spc="-45" dirty="0">
                <a:solidFill>
                  <a:srgbClr val="2E5496"/>
                </a:solidFill>
                <a:latin typeface="Calibri"/>
                <a:cs typeface="Calibri"/>
              </a:rPr>
              <a:t> </a:t>
            </a:r>
            <a:r>
              <a:rPr sz="2400" b="0" spc="-10" dirty="0">
                <a:solidFill>
                  <a:srgbClr val="2E5496"/>
                </a:solidFill>
                <a:latin typeface="Calibri"/>
                <a:cs typeface="Calibri"/>
              </a:rPr>
              <a:t>Presentation</a:t>
            </a:r>
            <a:endParaRPr sz="2400" dirty="0">
              <a:latin typeface="Calibri"/>
              <a:cs typeface="Calibri"/>
            </a:endParaRPr>
          </a:p>
        </p:txBody>
      </p:sp>
      <p:sp>
        <p:nvSpPr>
          <p:cNvPr id="3" name="object 3"/>
          <p:cNvSpPr txBox="1"/>
          <p:nvPr/>
        </p:nvSpPr>
        <p:spPr>
          <a:xfrm>
            <a:off x="1451486" y="1198530"/>
            <a:ext cx="9067800" cy="3470181"/>
          </a:xfrm>
          <a:prstGeom prst="rect">
            <a:avLst/>
          </a:prstGeom>
        </p:spPr>
        <p:txBody>
          <a:bodyPr vert="horz" wrap="square" lIns="0" tIns="12700" rIns="0" bIns="0" rtlCol="0">
            <a:spAutoFit/>
          </a:bodyPr>
          <a:lstStyle/>
          <a:p>
            <a:pPr marL="12700" algn="ctr">
              <a:lnSpc>
                <a:spcPct val="100000"/>
              </a:lnSpc>
              <a:spcBef>
                <a:spcPts val="100"/>
              </a:spcBef>
            </a:pPr>
            <a:r>
              <a:rPr sz="2400" b="1" dirty="0">
                <a:solidFill>
                  <a:srgbClr val="2E5496"/>
                </a:solidFill>
                <a:latin typeface="Arial"/>
                <a:cs typeface="Arial"/>
              </a:rPr>
              <a:t>Topic: </a:t>
            </a:r>
            <a:r>
              <a:rPr lang="en-US" sz="2400" b="1" dirty="0">
                <a:solidFill>
                  <a:schemeClr val="tx2">
                    <a:lumMod val="75000"/>
                    <a:lumOff val="25000"/>
                  </a:schemeClr>
                </a:solidFill>
                <a:latin typeface="Arial" panose="020B0604020202020204" pitchFamily="34" charset="0"/>
                <a:cs typeface="Arial" panose="020B0604020202020204" pitchFamily="34" charset="0"/>
              </a:rPr>
              <a:t>Detect Fake News from Social Media or News Websites </a:t>
            </a:r>
            <a:r>
              <a:rPr sz="1800" spc="75" dirty="0" err="1">
                <a:solidFill>
                  <a:srgbClr val="2E5496"/>
                </a:solidFill>
                <a:latin typeface="Arial MT"/>
                <a:cs typeface="Arial MT"/>
              </a:rPr>
              <a:t>Pr</a:t>
            </a:r>
            <a:r>
              <a:rPr lang="en-IN" sz="1800" spc="75" dirty="0" err="1">
                <a:solidFill>
                  <a:srgbClr val="2E5496"/>
                </a:solidFill>
                <a:latin typeface="Arial MT"/>
                <a:cs typeface="Arial MT"/>
              </a:rPr>
              <a:t>esented</a:t>
            </a:r>
            <a:r>
              <a:rPr lang="en-IN" sz="1800" spc="-5" dirty="0">
                <a:solidFill>
                  <a:srgbClr val="2E5496"/>
                </a:solidFill>
                <a:latin typeface="Arial MT"/>
                <a:cs typeface="Arial MT"/>
              </a:rPr>
              <a:t> </a:t>
            </a:r>
            <a:r>
              <a:rPr lang="en-IN" sz="1800" spc="45" dirty="0">
                <a:solidFill>
                  <a:srgbClr val="2E5496"/>
                </a:solidFill>
                <a:latin typeface="Arial MT"/>
                <a:cs typeface="Arial MT"/>
              </a:rPr>
              <a:t>by:</a:t>
            </a:r>
            <a:endParaRPr lang="en-IN" sz="1800" dirty="0">
              <a:latin typeface="Arial MT"/>
              <a:cs typeface="Arial MT"/>
            </a:endParaRPr>
          </a:p>
          <a:p>
            <a:pPr marR="238760" algn="ctr">
              <a:spcBef>
                <a:spcPts val="2155"/>
              </a:spcBef>
            </a:pPr>
            <a:r>
              <a:rPr lang="en-IN" b="1" spc="-100" dirty="0">
                <a:solidFill>
                  <a:srgbClr val="171717"/>
                </a:solidFill>
                <a:latin typeface="Arial"/>
                <a:cs typeface="Arial"/>
              </a:rPr>
              <a:t>         </a:t>
            </a:r>
            <a:r>
              <a:rPr lang="en-IN" sz="2000" dirty="0" err="1">
                <a:solidFill>
                  <a:srgbClr val="171717"/>
                </a:solidFill>
                <a:latin typeface="Times New Roman" panose="02020603050405020304" pitchFamily="18" charset="0"/>
                <a:cs typeface="Times New Roman" panose="02020603050405020304" pitchFamily="18" charset="0"/>
              </a:rPr>
              <a:t>Rudranil</a:t>
            </a:r>
            <a:r>
              <a:rPr lang="en-IN" sz="2000" dirty="0">
                <a:solidFill>
                  <a:srgbClr val="171717"/>
                </a:solidFill>
                <a:latin typeface="Times New Roman" panose="02020603050405020304" pitchFamily="18" charset="0"/>
                <a:cs typeface="Times New Roman" panose="02020603050405020304" pitchFamily="18" charset="0"/>
              </a:rPr>
              <a:t> </a:t>
            </a:r>
            <a:r>
              <a:rPr lang="en-IN" sz="2000" dirty="0" err="1">
                <a:solidFill>
                  <a:srgbClr val="171717"/>
                </a:solidFill>
                <a:latin typeface="Times New Roman" panose="02020603050405020304" pitchFamily="18" charset="0"/>
                <a:cs typeface="Times New Roman" panose="02020603050405020304" pitchFamily="18" charset="0"/>
              </a:rPr>
              <a:t>Guchhait</a:t>
            </a:r>
            <a:r>
              <a:rPr lang="en-IN" sz="2000" dirty="0">
                <a:solidFill>
                  <a:srgbClr val="171717"/>
                </a:solidFill>
                <a:latin typeface="Times New Roman" panose="02020603050405020304" pitchFamily="18" charset="0"/>
                <a:cs typeface="Times New Roman" panose="02020603050405020304" pitchFamily="18" charset="0"/>
              </a:rPr>
              <a:t>- 27600122099</a:t>
            </a:r>
            <a:endParaRPr lang="en-IN" dirty="0">
              <a:solidFill>
                <a:srgbClr val="171717"/>
              </a:solidFill>
              <a:latin typeface="Times New Roman" panose="02020603050405020304" pitchFamily="18" charset="0"/>
              <a:cs typeface="Times New Roman" panose="02020603050405020304" pitchFamily="18" charset="0"/>
            </a:endParaRPr>
          </a:p>
          <a:p>
            <a:pPr marL="2150110" marR="1821180" indent="-62865" algn="ctr">
              <a:spcBef>
                <a:spcPts val="60"/>
              </a:spcBef>
            </a:pPr>
            <a:r>
              <a:rPr lang="en-IN" sz="2000" dirty="0">
                <a:solidFill>
                  <a:srgbClr val="171717"/>
                </a:solidFill>
                <a:latin typeface="Times New Roman" panose="02020603050405020304" pitchFamily="18" charset="0"/>
                <a:cs typeface="Times New Roman" panose="02020603050405020304" pitchFamily="18" charset="0"/>
              </a:rPr>
              <a:t>Apurba Mondal – 27600122140</a:t>
            </a:r>
          </a:p>
          <a:p>
            <a:pPr marL="2150110" marR="1821180" indent="-62865" algn="ctr">
              <a:spcBef>
                <a:spcPts val="60"/>
              </a:spcBef>
            </a:pPr>
            <a:r>
              <a:rPr lang="en-IN" sz="2000" dirty="0">
                <a:solidFill>
                  <a:srgbClr val="171717"/>
                </a:solidFill>
                <a:latin typeface="Times New Roman" panose="02020603050405020304" pitchFamily="18" charset="0"/>
                <a:cs typeface="Times New Roman" panose="02020603050405020304" pitchFamily="18" charset="0"/>
              </a:rPr>
              <a:t>Subhendu </a:t>
            </a:r>
            <a:r>
              <a:rPr lang="en-IN" sz="2000" dirty="0" err="1">
                <a:solidFill>
                  <a:srgbClr val="171717"/>
                </a:solidFill>
                <a:latin typeface="Times New Roman" panose="02020603050405020304" pitchFamily="18" charset="0"/>
                <a:cs typeface="Times New Roman" panose="02020603050405020304" pitchFamily="18" charset="0"/>
              </a:rPr>
              <a:t>Maiti</a:t>
            </a:r>
            <a:r>
              <a:rPr lang="en-IN" sz="2000" dirty="0">
                <a:solidFill>
                  <a:srgbClr val="171717"/>
                </a:solidFill>
                <a:latin typeface="Times New Roman" panose="02020603050405020304" pitchFamily="18" charset="0"/>
                <a:cs typeface="Times New Roman" panose="02020603050405020304" pitchFamily="18" charset="0"/>
              </a:rPr>
              <a:t> - 27600122053</a:t>
            </a:r>
          </a:p>
          <a:p>
            <a:pPr marL="2150110" marR="1821180" indent="-62865" algn="ctr">
              <a:spcBef>
                <a:spcPts val="60"/>
              </a:spcBef>
            </a:pPr>
            <a:r>
              <a:rPr lang="en-IN" sz="2000" dirty="0">
                <a:solidFill>
                  <a:srgbClr val="171717"/>
                </a:solidFill>
                <a:latin typeface="Times New Roman" panose="02020603050405020304" pitchFamily="18" charset="0"/>
                <a:cs typeface="Times New Roman" panose="02020603050405020304" pitchFamily="18" charset="0"/>
              </a:rPr>
              <a:t>Sujan Samanta - 27600122204</a:t>
            </a:r>
            <a:r>
              <a:rPr sz="2000" dirty="0">
                <a:solidFill>
                  <a:srgbClr val="171717"/>
                </a:solidFill>
                <a:latin typeface="Times New Roman" panose="02020603050405020304" pitchFamily="18" charset="0"/>
                <a:cs typeface="Times New Roman" panose="02020603050405020304" pitchFamily="18" charset="0"/>
              </a:rPr>
              <a:t> </a:t>
            </a:r>
            <a:endParaRPr lang="en-IN" sz="2000" dirty="0">
              <a:solidFill>
                <a:srgbClr val="171717"/>
              </a:solidFill>
              <a:latin typeface="Times New Roman" panose="02020603050405020304" pitchFamily="18" charset="0"/>
              <a:cs typeface="Times New Roman" panose="02020603050405020304" pitchFamily="18" charset="0"/>
            </a:endParaRPr>
          </a:p>
          <a:p>
            <a:pPr marL="2150110" marR="1821180" indent="-62865" algn="ctr">
              <a:spcBef>
                <a:spcPts val="60"/>
              </a:spcBef>
            </a:pPr>
            <a:r>
              <a:rPr lang="en-IN" sz="2000" dirty="0" err="1">
                <a:solidFill>
                  <a:srgbClr val="171717"/>
                </a:solidFill>
                <a:latin typeface="Times New Roman" panose="02020603050405020304" pitchFamily="18" charset="0"/>
                <a:cs typeface="Times New Roman" panose="02020603050405020304" pitchFamily="18" charset="0"/>
              </a:rPr>
              <a:t>Hafijul</a:t>
            </a:r>
            <a:r>
              <a:rPr lang="en-IN" sz="2000" dirty="0">
                <a:solidFill>
                  <a:srgbClr val="171717"/>
                </a:solidFill>
                <a:latin typeface="Times New Roman" panose="02020603050405020304" pitchFamily="18" charset="0"/>
                <a:cs typeface="Times New Roman" panose="02020603050405020304" pitchFamily="18" charset="0"/>
              </a:rPr>
              <a:t> Mondal - 27600122234</a:t>
            </a:r>
            <a:endParaRPr sz="2000" dirty="0">
              <a:latin typeface="Times New Roman" panose="02020603050405020304" pitchFamily="18" charset="0"/>
              <a:cs typeface="Times New Roman" panose="02020603050405020304" pitchFamily="18" charset="0"/>
            </a:endParaRPr>
          </a:p>
          <a:p>
            <a:pPr algn="ctr">
              <a:lnSpc>
                <a:spcPct val="100000"/>
              </a:lnSpc>
              <a:spcBef>
                <a:spcPts val="585"/>
              </a:spcBef>
            </a:pPr>
            <a:endParaRPr sz="2000" dirty="0">
              <a:latin typeface="Arial"/>
              <a:cs typeface="Arial"/>
            </a:endParaRPr>
          </a:p>
          <a:p>
            <a:pPr marL="224790" algn="ctr">
              <a:lnSpc>
                <a:spcPct val="100000"/>
              </a:lnSpc>
            </a:pPr>
            <a:r>
              <a:rPr sz="1800" b="1" dirty="0">
                <a:solidFill>
                  <a:schemeClr val="tx2">
                    <a:lumMod val="60000"/>
                    <a:lumOff val="40000"/>
                  </a:schemeClr>
                </a:solidFill>
                <a:latin typeface="Arial"/>
                <a:cs typeface="Arial"/>
              </a:rPr>
              <a:t>Supervisor:</a:t>
            </a:r>
            <a:r>
              <a:rPr sz="1800" b="1" spc="-10" dirty="0">
                <a:solidFill>
                  <a:schemeClr val="tx2">
                    <a:lumMod val="60000"/>
                    <a:lumOff val="40000"/>
                  </a:schemeClr>
                </a:solidFill>
                <a:latin typeface="Arial"/>
                <a:cs typeface="Arial"/>
              </a:rPr>
              <a:t> </a:t>
            </a:r>
            <a:r>
              <a:rPr sz="1800" spc="50" dirty="0">
                <a:solidFill>
                  <a:schemeClr val="tx2">
                    <a:lumMod val="60000"/>
                    <a:lumOff val="40000"/>
                  </a:schemeClr>
                </a:solidFill>
                <a:latin typeface="Arial MT"/>
                <a:cs typeface="Arial MT"/>
              </a:rPr>
              <a:t>Prof.</a:t>
            </a:r>
            <a:r>
              <a:rPr sz="1800" spc="20" dirty="0">
                <a:solidFill>
                  <a:schemeClr val="tx2">
                    <a:lumMod val="60000"/>
                    <a:lumOff val="40000"/>
                  </a:schemeClr>
                </a:solidFill>
                <a:latin typeface="Arial MT"/>
                <a:cs typeface="Arial MT"/>
              </a:rPr>
              <a:t> </a:t>
            </a:r>
            <a:r>
              <a:rPr lang="en-IN" dirty="0">
                <a:solidFill>
                  <a:schemeClr val="tx2">
                    <a:lumMod val="60000"/>
                    <a:lumOff val="40000"/>
                  </a:schemeClr>
                </a:solidFill>
              </a:rPr>
              <a:t>Prof.(</a:t>
            </a:r>
            <a:r>
              <a:rPr lang="en-IN" dirty="0" err="1">
                <a:solidFill>
                  <a:schemeClr val="tx2">
                    <a:lumMod val="60000"/>
                    <a:lumOff val="40000"/>
                  </a:schemeClr>
                </a:solidFill>
              </a:rPr>
              <a:t>Dr.</a:t>
            </a:r>
            <a:r>
              <a:rPr lang="en-IN" dirty="0">
                <a:solidFill>
                  <a:schemeClr val="tx2">
                    <a:lumMod val="60000"/>
                    <a:lumOff val="40000"/>
                  </a:schemeClr>
                </a:solidFill>
              </a:rPr>
              <a:t>) Himadri Biswas</a:t>
            </a:r>
            <a:endParaRPr sz="1800" dirty="0">
              <a:solidFill>
                <a:schemeClr val="tx2">
                  <a:lumMod val="60000"/>
                  <a:lumOff val="40000"/>
                </a:schemeClr>
              </a:solidFill>
              <a:latin typeface="Arial"/>
              <a:cs typeface="Arial"/>
            </a:endParaRPr>
          </a:p>
          <a:p>
            <a:pPr marL="150495" algn="ctr">
              <a:lnSpc>
                <a:spcPct val="100000"/>
              </a:lnSpc>
            </a:pPr>
            <a:r>
              <a:rPr sz="1800" spc="-10" dirty="0">
                <a:solidFill>
                  <a:srgbClr val="2D75B6"/>
                </a:solidFill>
                <a:latin typeface="Calibri"/>
                <a:cs typeface="Calibri"/>
              </a:rPr>
              <a:t>Department</a:t>
            </a:r>
            <a:r>
              <a:rPr sz="1800" spc="-40" dirty="0">
                <a:solidFill>
                  <a:srgbClr val="2D75B6"/>
                </a:solidFill>
                <a:latin typeface="Calibri"/>
                <a:cs typeface="Calibri"/>
              </a:rPr>
              <a:t> </a:t>
            </a:r>
            <a:r>
              <a:rPr sz="1800" dirty="0">
                <a:solidFill>
                  <a:srgbClr val="2D75B6"/>
                </a:solidFill>
                <a:latin typeface="Calibri"/>
                <a:cs typeface="Calibri"/>
              </a:rPr>
              <a:t>of</a:t>
            </a:r>
            <a:r>
              <a:rPr sz="1800" spc="-50" dirty="0">
                <a:solidFill>
                  <a:srgbClr val="2D75B6"/>
                </a:solidFill>
                <a:latin typeface="Calibri"/>
                <a:cs typeface="Calibri"/>
              </a:rPr>
              <a:t> </a:t>
            </a:r>
            <a:r>
              <a:rPr sz="1800" dirty="0">
                <a:solidFill>
                  <a:srgbClr val="2D75B6"/>
                </a:solidFill>
                <a:latin typeface="Calibri"/>
                <a:cs typeface="Calibri"/>
              </a:rPr>
              <a:t>Computer</a:t>
            </a:r>
            <a:r>
              <a:rPr sz="1800" spc="-25" dirty="0">
                <a:solidFill>
                  <a:srgbClr val="2D75B6"/>
                </a:solidFill>
                <a:latin typeface="Calibri"/>
                <a:cs typeface="Calibri"/>
              </a:rPr>
              <a:t> </a:t>
            </a:r>
            <a:r>
              <a:rPr sz="1800" dirty="0">
                <a:solidFill>
                  <a:srgbClr val="2D75B6"/>
                </a:solidFill>
                <a:latin typeface="Calibri"/>
                <a:cs typeface="Calibri"/>
              </a:rPr>
              <a:t>Science</a:t>
            </a:r>
            <a:r>
              <a:rPr sz="1800" spc="-30" dirty="0">
                <a:solidFill>
                  <a:srgbClr val="2D75B6"/>
                </a:solidFill>
                <a:latin typeface="Calibri"/>
                <a:cs typeface="Calibri"/>
              </a:rPr>
              <a:t> </a:t>
            </a:r>
            <a:r>
              <a:rPr sz="1800" dirty="0">
                <a:solidFill>
                  <a:srgbClr val="2D75B6"/>
                </a:solidFill>
                <a:latin typeface="Calibri"/>
                <a:cs typeface="Calibri"/>
              </a:rPr>
              <a:t>&amp;</a:t>
            </a:r>
            <a:r>
              <a:rPr sz="1800" spc="-40" dirty="0">
                <a:solidFill>
                  <a:srgbClr val="2D75B6"/>
                </a:solidFill>
                <a:latin typeface="Calibri"/>
                <a:cs typeface="Calibri"/>
              </a:rPr>
              <a:t> </a:t>
            </a:r>
            <a:r>
              <a:rPr sz="1800" spc="-10" dirty="0">
                <a:solidFill>
                  <a:srgbClr val="2D75B6"/>
                </a:solidFill>
                <a:latin typeface="Calibri"/>
                <a:cs typeface="Calibri"/>
              </a:rPr>
              <a:t>Engineering</a:t>
            </a:r>
            <a:endParaRPr sz="1800" dirty="0">
              <a:latin typeface="Calibri"/>
              <a:cs typeface="Calibri"/>
            </a:endParaRPr>
          </a:p>
        </p:txBody>
      </p:sp>
      <p:pic>
        <p:nvPicPr>
          <p:cNvPr id="4" name="object 4"/>
          <p:cNvPicPr/>
          <p:nvPr/>
        </p:nvPicPr>
        <p:blipFill>
          <a:blip r:embed="rId2" cstate="print"/>
          <a:stretch>
            <a:fillRect/>
          </a:stretch>
        </p:blipFill>
        <p:spPr>
          <a:xfrm>
            <a:off x="5333047" y="4718732"/>
            <a:ext cx="1525905" cy="1442973"/>
          </a:xfrm>
          <a:prstGeom prst="rect">
            <a:avLst/>
          </a:prstGeom>
        </p:spPr>
      </p:pic>
      <p:sp>
        <p:nvSpPr>
          <p:cNvPr id="5" name="object 5"/>
          <p:cNvSpPr txBox="1"/>
          <p:nvPr/>
        </p:nvSpPr>
        <p:spPr>
          <a:xfrm>
            <a:off x="4006214" y="5987033"/>
            <a:ext cx="4179570" cy="280670"/>
          </a:xfrm>
          <a:prstGeom prst="rect">
            <a:avLst/>
          </a:prstGeom>
          <a:solidFill>
            <a:srgbClr val="00FFFF"/>
          </a:solidFill>
        </p:spPr>
        <p:txBody>
          <a:bodyPr vert="horz" wrap="square" lIns="0" tIns="0" rIns="0" bIns="0" rtlCol="0">
            <a:spAutoFit/>
          </a:bodyPr>
          <a:lstStyle/>
          <a:p>
            <a:pPr>
              <a:lnSpc>
                <a:spcPts val="2100"/>
              </a:lnSpc>
            </a:pPr>
            <a:r>
              <a:rPr sz="1800" dirty="0">
                <a:solidFill>
                  <a:srgbClr val="2E5496"/>
                </a:solidFill>
                <a:latin typeface="Calibri"/>
                <a:cs typeface="Calibri"/>
              </a:rPr>
              <a:t>Budge</a:t>
            </a:r>
            <a:r>
              <a:rPr sz="1800" spc="-50" dirty="0">
                <a:solidFill>
                  <a:srgbClr val="2E5496"/>
                </a:solidFill>
                <a:latin typeface="Calibri"/>
                <a:cs typeface="Calibri"/>
              </a:rPr>
              <a:t> </a:t>
            </a:r>
            <a:r>
              <a:rPr sz="1800" dirty="0">
                <a:solidFill>
                  <a:srgbClr val="2E5496"/>
                </a:solidFill>
                <a:latin typeface="Calibri"/>
                <a:cs typeface="Calibri"/>
              </a:rPr>
              <a:t>Budge</a:t>
            </a:r>
            <a:r>
              <a:rPr sz="1800" spc="-60" dirty="0">
                <a:solidFill>
                  <a:srgbClr val="2E5496"/>
                </a:solidFill>
                <a:latin typeface="Calibri"/>
                <a:cs typeface="Calibri"/>
              </a:rPr>
              <a:t> </a:t>
            </a:r>
            <a:r>
              <a:rPr sz="1800" dirty="0">
                <a:solidFill>
                  <a:srgbClr val="2E5496"/>
                </a:solidFill>
                <a:latin typeface="Calibri"/>
                <a:cs typeface="Calibri"/>
              </a:rPr>
              <a:t>Institute</a:t>
            </a:r>
            <a:r>
              <a:rPr sz="1800" spc="-35" dirty="0">
                <a:solidFill>
                  <a:srgbClr val="2E5496"/>
                </a:solidFill>
                <a:latin typeface="Calibri"/>
                <a:cs typeface="Calibri"/>
              </a:rPr>
              <a:t> </a:t>
            </a:r>
            <a:r>
              <a:rPr sz="1800" dirty="0">
                <a:solidFill>
                  <a:srgbClr val="2E5496"/>
                </a:solidFill>
                <a:latin typeface="Calibri"/>
                <a:cs typeface="Calibri"/>
              </a:rPr>
              <a:t>of</a:t>
            </a:r>
            <a:r>
              <a:rPr sz="1800" spc="-50" dirty="0">
                <a:solidFill>
                  <a:srgbClr val="2E5496"/>
                </a:solidFill>
                <a:latin typeface="Calibri"/>
                <a:cs typeface="Calibri"/>
              </a:rPr>
              <a:t> </a:t>
            </a:r>
            <a:r>
              <a:rPr sz="1800" spc="-30" dirty="0">
                <a:solidFill>
                  <a:srgbClr val="2E5496"/>
                </a:solidFill>
                <a:latin typeface="Calibri"/>
                <a:cs typeface="Calibri"/>
              </a:rPr>
              <a:t>Technology,</a:t>
            </a:r>
            <a:r>
              <a:rPr sz="1800" spc="-35" dirty="0">
                <a:solidFill>
                  <a:srgbClr val="2E5496"/>
                </a:solidFill>
                <a:latin typeface="Calibri"/>
                <a:cs typeface="Calibri"/>
              </a:rPr>
              <a:t> </a:t>
            </a:r>
            <a:r>
              <a:rPr sz="1800" spc="-10" dirty="0">
                <a:solidFill>
                  <a:srgbClr val="2E5496"/>
                </a:solidFill>
                <a:latin typeface="Calibri"/>
                <a:cs typeface="Calibri"/>
              </a:rPr>
              <a:t>Kolkata</a:t>
            </a:r>
            <a:endParaRPr sz="1800" dirty="0">
              <a:latin typeface="Calibri"/>
              <a:cs typeface="Calibri"/>
            </a:endParaRPr>
          </a:p>
        </p:txBody>
      </p:sp>
      <p:sp>
        <p:nvSpPr>
          <p:cNvPr id="6" name="object 6"/>
          <p:cNvSpPr txBox="1"/>
          <p:nvPr/>
        </p:nvSpPr>
        <p:spPr>
          <a:xfrm>
            <a:off x="5372733" y="6261746"/>
            <a:ext cx="1446531" cy="289823"/>
          </a:xfrm>
          <a:prstGeom prst="rect">
            <a:avLst/>
          </a:prstGeom>
        </p:spPr>
        <p:txBody>
          <a:bodyPr vert="horz" wrap="square" lIns="0" tIns="12700" rIns="0" bIns="0" rtlCol="0">
            <a:spAutoFit/>
          </a:bodyPr>
          <a:lstStyle/>
          <a:p>
            <a:pPr marL="12700">
              <a:lnSpc>
                <a:spcPct val="100000"/>
              </a:lnSpc>
              <a:spcBef>
                <a:spcPts val="100"/>
              </a:spcBef>
            </a:pPr>
            <a:r>
              <a:rPr lang="en-US" sz="1800" spc="-10" dirty="0">
                <a:latin typeface="Calibri"/>
                <a:cs typeface="Calibri"/>
              </a:rPr>
              <a:t>June</a:t>
            </a:r>
            <a:r>
              <a:rPr sz="1800" spc="-10" dirty="0">
                <a:latin typeface="Calibri"/>
                <a:cs typeface="Calibri"/>
              </a:rPr>
              <a:t> </a:t>
            </a:r>
            <a:r>
              <a:rPr sz="1800" dirty="0">
                <a:latin typeface="Calibri"/>
                <a:cs typeface="Calibri"/>
              </a:rPr>
              <a:t>,</a:t>
            </a:r>
            <a:r>
              <a:rPr sz="1800" spc="-15" dirty="0">
                <a:latin typeface="Calibri"/>
                <a:cs typeface="Calibri"/>
              </a:rPr>
              <a:t> </a:t>
            </a:r>
            <a:r>
              <a:rPr sz="1800" spc="-20" dirty="0">
                <a:latin typeface="Calibri"/>
                <a:cs typeface="Calibri"/>
              </a:rPr>
              <a:t>202</a:t>
            </a:r>
            <a:r>
              <a:rPr lang="en-US" spc="-20" dirty="0">
                <a:latin typeface="Calibri"/>
                <a:cs typeface="Calibri"/>
              </a:rPr>
              <a:t>6</a:t>
            </a:r>
            <a:endParaRPr sz="1800" dirty="0">
              <a:latin typeface="Calibri"/>
              <a:cs typeface="Calibri"/>
            </a:endParaRPr>
          </a:p>
        </p:txBody>
      </p:sp>
      <p:sp>
        <p:nvSpPr>
          <p:cNvPr id="7" name="object 7"/>
          <p:cNvSpPr txBox="1"/>
          <p:nvPr/>
        </p:nvSpPr>
        <p:spPr>
          <a:xfrm>
            <a:off x="10856721" y="214121"/>
            <a:ext cx="898525"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65" dirty="0">
                <a:latin typeface="Cambria"/>
                <a:cs typeface="Cambria"/>
              </a:rPr>
              <a:t> </a:t>
            </a:r>
            <a:r>
              <a:rPr sz="1800" b="1" dirty="0">
                <a:latin typeface="Cambria"/>
                <a:cs typeface="Cambria"/>
              </a:rPr>
              <a:t>-</a:t>
            </a:r>
            <a:r>
              <a:rPr sz="1800" b="1" spc="70" dirty="0">
                <a:latin typeface="Cambria"/>
                <a:cs typeface="Cambria"/>
              </a:rPr>
              <a:t> </a:t>
            </a:r>
            <a:r>
              <a:rPr sz="1800" b="1" spc="-50" dirty="0">
                <a:latin typeface="Cambria"/>
                <a:cs typeface="Cambria"/>
              </a:rPr>
              <a:t>1</a:t>
            </a:r>
            <a:endParaRPr sz="1800">
              <a:latin typeface="Cambria"/>
              <a:cs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4FCB9D5-4449-29F3-19EF-7CDE710C62B0}"/>
              </a:ext>
            </a:extLst>
          </p:cNvPr>
          <p:cNvSpPr txBox="1">
            <a:spLocks/>
          </p:cNvSpPr>
          <p:nvPr/>
        </p:nvSpPr>
        <p:spPr>
          <a:xfrm>
            <a:off x="762000" y="685800"/>
            <a:ext cx="37338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IN" sz="3200" dirty="0">
                <a:solidFill>
                  <a:schemeClr val="tx1"/>
                </a:solidFill>
                <a:latin typeface="Eras Bold ITC" panose="020B0907030504020204" pitchFamily="34" charset="0"/>
              </a:rPr>
              <a:t>Content</a:t>
            </a:r>
          </a:p>
        </p:txBody>
      </p:sp>
      <p:sp>
        <p:nvSpPr>
          <p:cNvPr id="5" name="object 4">
            <a:extLst>
              <a:ext uri="{FF2B5EF4-FFF2-40B4-BE49-F238E27FC236}">
                <a16:creationId xmlns:a16="http://schemas.microsoft.com/office/drawing/2014/main" id="{11E81E9F-C127-47D3-D549-FEB2BC797F6E}"/>
              </a:ext>
            </a:extLst>
          </p:cNvPr>
          <p:cNvSpPr txBox="1"/>
          <p:nvPr/>
        </p:nvSpPr>
        <p:spPr>
          <a:xfrm>
            <a:off x="1066800" y="1371600"/>
            <a:ext cx="9484995" cy="5245667"/>
          </a:xfrm>
          <a:prstGeom prst="rect">
            <a:avLst/>
          </a:prstGeom>
        </p:spPr>
        <p:txBody>
          <a:bodyPr vert="horz" wrap="square" lIns="0" tIns="13335" rIns="0" bIns="0" rtlCol="0">
            <a:spAutoFit/>
          </a:bodyPr>
          <a:lstStyle/>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Introduction</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Objective</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Abstraction</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Literature review</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Comparison Between Different Types of Models</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Review research paper</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SDLC Model</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Model Diagram</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Data Collection</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Data cleaning &amp; preprocessing</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Data Training &amp; Testing</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Our model</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Our model code and output</a:t>
            </a:r>
          </a:p>
          <a:p>
            <a:pPr marL="342900" indent="-342900">
              <a:buFont typeface="Wingdings" panose="05000000000000000000" pitchFamily="2" charset="2"/>
              <a:buChar char="q"/>
            </a:pPr>
            <a:r>
              <a:rPr lang="en-US" sz="2000" dirty="0">
                <a:solidFill>
                  <a:schemeClr val="tx1"/>
                </a:solidFill>
                <a:latin typeface="Times New Roman" panose="02020603050405020304" pitchFamily="18" charset="0"/>
                <a:cs typeface="Times New Roman" panose="02020603050405020304" pitchFamily="18" charset="0"/>
              </a:rPr>
              <a:t>User Interface Of Our Model</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Future work</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Conclusion</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References </a:t>
            </a:r>
          </a:p>
        </p:txBody>
      </p:sp>
      <p:sp>
        <p:nvSpPr>
          <p:cNvPr id="2" name="object 5"/>
          <p:cNvSpPr txBox="1"/>
          <p:nvPr/>
        </p:nvSpPr>
        <p:spPr>
          <a:xfrm>
            <a:off x="10856721" y="214121"/>
            <a:ext cx="898525"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65" dirty="0">
                <a:latin typeface="Cambria"/>
                <a:cs typeface="Cambria"/>
              </a:rPr>
              <a:t> </a:t>
            </a:r>
            <a:r>
              <a:rPr sz="1800" b="1" dirty="0">
                <a:latin typeface="Cambria"/>
                <a:cs typeface="Cambria"/>
              </a:rPr>
              <a:t>-</a:t>
            </a:r>
            <a:r>
              <a:rPr sz="1800" b="1" spc="70" dirty="0">
                <a:latin typeface="Cambria"/>
                <a:cs typeface="Cambria"/>
              </a:rPr>
              <a:t> </a:t>
            </a:r>
            <a:r>
              <a:rPr lang="en-IN" b="1" spc="-50" dirty="0">
                <a:latin typeface="Cambria"/>
                <a:cs typeface="Cambria"/>
              </a:rPr>
              <a:t>1</a:t>
            </a:r>
            <a:endParaRPr sz="1800" dirty="0">
              <a:latin typeface="Cambria"/>
              <a:cs typeface="Cambria"/>
            </a:endParaRPr>
          </a:p>
        </p:txBody>
      </p:sp>
    </p:spTree>
    <p:extLst>
      <p:ext uri="{BB962C8B-B14F-4D97-AF65-F5344CB8AC3E}">
        <p14:creationId xmlns:p14="http://schemas.microsoft.com/office/powerpoint/2010/main" val="715955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F9A39-7F5C-C397-A15A-8682AAD81C88}"/>
              </a:ext>
            </a:extLst>
          </p:cNvPr>
          <p:cNvSpPr>
            <a:spLocks noGrp="1"/>
          </p:cNvSpPr>
          <p:nvPr>
            <p:ph type="title"/>
          </p:nvPr>
        </p:nvSpPr>
        <p:spPr>
          <a:xfrm>
            <a:off x="762000" y="685800"/>
            <a:ext cx="3733800" cy="492443"/>
          </a:xfrm>
        </p:spPr>
        <p:txBody>
          <a:bodyPr>
            <a:normAutofit fontScale="90000"/>
          </a:bodyPr>
          <a:lstStyle/>
          <a:p>
            <a:r>
              <a:rPr lang="en-IN" sz="3200" dirty="0">
                <a:latin typeface="Eras Bold ITC" panose="020B0907030504020204" pitchFamily="34" charset="0"/>
              </a:rPr>
              <a:t>Introduction</a:t>
            </a:r>
          </a:p>
        </p:txBody>
      </p:sp>
      <p:sp>
        <p:nvSpPr>
          <p:cNvPr id="3" name="TextBox 2">
            <a:extLst>
              <a:ext uri="{FF2B5EF4-FFF2-40B4-BE49-F238E27FC236}">
                <a16:creationId xmlns:a16="http://schemas.microsoft.com/office/drawing/2014/main" id="{0918D4FE-EC61-8A94-C995-A5603624C3D2}"/>
              </a:ext>
            </a:extLst>
          </p:cNvPr>
          <p:cNvSpPr txBox="1"/>
          <p:nvPr/>
        </p:nvSpPr>
        <p:spPr>
          <a:xfrm>
            <a:off x="762000" y="1676400"/>
            <a:ext cx="10439400" cy="406265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In today’s digital world, fake news has become a serious problem. With the rapid growth of social media and online platforms, false information spreads very quickly and can easily mislead people. Many users share news articles or posts without checking their authenticity, which often causes confusion and misinformation among the public.</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Our project, titled </a:t>
            </a:r>
            <a:r>
              <a:rPr lang="en-US" sz="2000" b="1" dirty="0">
                <a:latin typeface="Times New Roman" panose="02020603050405020304" pitchFamily="18" charset="0"/>
                <a:cs typeface="Times New Roman" panose="02020603050405020304" pitchFamily="18" charset="0"/>
              </a:rPr>
              <a:t>“Fake News Detection from Social Media or News Websites,”</a:t>
            </a:r>
            <a:r>
              <a:rPr lang="en-US" sz="2000" dirty="0">
                <a:latin typeface="Times New Roman" panose="02020603050405020304" pitchFamily="18" charset="0"/>
                <a:cs typeface="Times New Roman" panose="02020603050405020304" pitchFamily="18" charset="0"/>
              </a:rPr>
              <a:t> aims to build a web-based system that can automatically detect whether a given news article is real or fake. The system will analyze the content using </a:t>
            </a:r>
            <a:r>
              <a:rPr lang="en-US" sz="2000" b="1" dirty="0">
                <a:latin typeface="Times New Roman" panose="02020603050405020304" pitchFamily="18" charset="0"/>
                <a:cs typeface="Times New Roman" panose="02020603050405020304" pitchFamily="18" charset="0"/>
              </a:rPr>
              <a:t>Machine Learning (ML)</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Natural Language Processing (NLP)</a:t>
            </a:r>
            <a:r>
              <a:rPr lang="en-US" sz="2000" dirty="0">
                <a:latin typeface="Times New Roman" panose="02020603050405020304" pitchFamily="18" charset="0"/>
                <a:cs typeface="Times New Roman" panose="02020603050405020304" pitchFamily="18" charset="0"/>
              </a:rPr>
              <a:t> techniques. Users will be able to provide the news in different forms — such as a </a:t>
            </a:r>
            <a:r>
              <a:rPr lang="en-US" sz="2000" b="1" dirty="0">
                <a:latin typeface="Times New Roman" panose="02020603050405020304" pitchFamily="18" charset="0"/>
                <a:cs typeface="Times New Roman" panose="02020603050405020304" pitchFamily="18" charset="0"/>
              </a:rPr>
              <a:t>URL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direct text input</a:t>
            </a:r>
            <a:r>
              <a:rPr lang="en-US" sz="2000" dirty="0">
                <a:latin typeface="Times New Roman" panose="02020603050405020304" pitchFamily="18" charset="0"/>
                <a:cs typeface="Times New Roman" panose="02020603050405020304" pitchFamily="18" charset="0"/>
              </a:rPr>
              <a:t>, or even an </a:t>
            </a:r>
            <a:r>
              <a:rPr lang="en-US" sz="2000" b="1" dirty="0">
                <a:latin typeface="Times New Roman" panose="02020603050405020304" pitchFamily="18" charset="0"/>
                <a:cs typeface="Times New Roman" panose="02020603050405020304" pitchFamily="18" charset="0"/>
              </a:rPr>
              <a:t>uploaded image or screenshot</a:t>
            </a:r>
            <a:r>
              <a:rPr lang="en-US" sz="2000" dirty="0">
                <a:latin typeface="Times New Roman" panose="02020603050405020304" pitchFamily="18" charset="0"/>
                <a:cs typeface="Times New Roman" panose="02020603050405020304" pitchFamily="18" charset="0"/>
              </a:rPr>
              <a:t> — and the system will generate the result instantly. The goal of this project is to help users verify the authenticity of online information and reduce the spread of fake news across social and digital media platforms.</a:t>
            </a:r>
          </a:p>
          <a:p>
            <a:endParaRPr lang="en-IN" sz="20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a16="http://schemas.microsoft.com/office/drawing/2014/main" id="{9E09638A-80E3-D4B5-4D87-BCB72F898F95}"/>
              </a:ext>
            </a:extLst>
          </p:cNvPr>
          <p:cNvSpPr txBox="1"/>
          <p:nvPr/>
        </p:nvSpPr>
        <p:spPr>
          <a:xfrm>
            <a:off x="10856721" y="214121"/>
            <a:ext cx="898525"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65" dirty="0">
                <a:latin typeface="Cambria"/>
                <a:cs typeface="Cambria"/>
              </a:rPr>
              <a:t> </a:t>
            </a:r>
            <a:r>
              <a:rPr sz="1800" b="1" dirty="0">
                <a:latin typeface="Cambria"/>
                <a:cs typeface="Cambria"/>
              </a:rPr>
              <a:t>-</a:t>
            </a:r>
            <a:r>
              <a:rPr sz="1800" b="1" spc="70" dirty="0">
                <a:latin typeface="Cambria"/>
                <a:cs typeface="Cambria"/>
              </a:rPr>
              <a:t> </a:t>
            </a:r>
            <a:r>
              <a:rPr lang="en-IN" b="1" spc="-50" dirty="0">
                <a:latin typeface="Cambria"/>
                <a:cs typeface="Cambria"/>
              </a:rPr>
              <a:t>2</a:t>
            </a:r>
            <a:endParaRPr sz="1800" dirty="0">
              <a:latin typeface="Cambria"/>
              <a:cs typeface="Cambria"/>
            </a:endParaRPr>
          </a:p>
        </p:txBody>
      </p:sp>
    </p:spTree>
    <p:extLst>
      <p:ext uri="{BB962C8B-B14F-4D97-AF65-F5344CB8AC3E}">
        <p14:creationId xmlns:p14="http://schemas.microsoft.com/office/powerpoint/2010/main" val="1056880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98871" y="1676400"/>
            <a:ext cx="9484995" cy="2475678"/>
          </a:xfrm>
          <a:prstGeom prst="rect">
            <a:avLst/>
          </a:prstGeom>
        </p:spPr>
        <p:txBody>
          <a:bodyPr vert="horz" wrap="square" lIns="0" tIns="13335" rIns="0" bIns="0" rtlCol="0">
            <a:spAutoFit/>
          </a:bodyPr>
          <a:lstStyle/>
          <a:p>
            <a:r>
              <a:rPr lang="en-US" sz="2000" dirty="0">
                <a:latin typeface="Times New Roman" panose="02020603050405020304" pitchFamily="18" charset="0"/>
                <a:cs typeface="Times New Roman" panose="02020603050405020304" pitchFamily="18" charset="0"/>
              </a:rPr>
              <a:t>The main objective of our project is to develop a web-based system that can detect whether a given news article is real or fake using machine learning and natural language processing techniques.</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Users can check news through URL, direct text, or uploaded image (screenshot).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will analyze the content and show a result with confidence score.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goal is to help people verify information and reduce misinformation spread.</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Future plans include fake social media account detection.</a:t>
            </a:r>
          </a:p>
        </p:txBody>
      </p:sp>
      <p:sp>
        <p:nvSpPr>
          <p:cNvPr id="5" name="object 5"/>
          <p:cNvSpPr txBox="1"/>
          <p:nvPr/>
        </p:nvSpPr>
        <p:spPr>
          <a:xfrm>
            <a:off x="10856721" y="214121"/>
            <a:ext cx="898525"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65" dirty="0">
                <a:latin typeface="Cambria"/>
                <a:cs typeface="Cambria"/>
              </a:rPr>
              <a:t> </a:t>
            </a:r>
            <a:r>
              <a:rPr sz="1800" b="1" dirty="0">
                <a:latin typeface="Cambria"/>
                <a:cs typeface="Cambria"/>
              </a:rPr>
              <a:t>-</a:t>
            </a:r>
            <a:r>
              <a:rPr sz="1800" b="1" spc="70" dirty="0">
                <a:latin typeface="Cambria"/>
                <a:cs typeface="Cambria"/>
              </a:rPr>
              <a:t> </a:t>
            </a:r>
            <a:r>
              <a:rPr lang="en-IN" b="1" spc="-50" dirty="0">
                <a:latin typeface="Cambria"/>
                <a:cs typeface="Cambria"/>
              </a:rPr>
              <a:t>3</a:t>
            </a:r>
            <a:endParaRPr sz="1800" dirty="0">
              <a:latin typeface="Cambria"/>
              <a:cs typeface="Cambria"/>
            </a:endParaRPr>
          </a:p>
        </p:txBody>
      </p:sp>
      <p:sp>
        <p:nvSpPr>
          <p:cNvPr id="6" name="Title 1">
            <a:extLst>
              <a:ext uri="{FF2B5EF4-FFF2-40B4-BE49-F238E27FC236}">
                <a16:creationId xmlns:a16="http://schemas.microsoft.com/office/drawing/2014/main" id="{BF3A6A61-0468-446D-7136-3CE3DE25D3CA}"/>
              </a:ext>
            </a:extLst>
          </p:cNvPr>
          <p:cNvSpPr txBox="1">
            <a:spLocks/>
          </p:cNvSpPr>
          <p:nvPr/>
        </p:nvSpPr>
        <p:spPr>
          <a:xfrm>
            <a:off x="762000" y="685800"/>
            <a:ext cx="37338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IN" sz="3200" dirty="0">
                <a:solidFill>
                  <a:schemeClr val="tx1"/>
                </a:solidFill>
                <a:latin typeface="Eras Bold ITC" panose="020B0907030504020204" pitchFamily="34" charset="0"/>
              </a:rPr>
              <a:t>Objective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784585" y="214121"/>
            <a:ext cx="899160" cy="289823"/>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lang="en-IN" sz="1800" b="1" dirty="0">
                <a:latin typeface="Cambria"/>
                <a:cs typeface="Cambria"/>
              </a:rPr>
              <a:t>-</a:t>
            </a:r>
            <a:r>
              <a:rPr sz="1800" b="1" spc="70" dirty="0">
                <a:latin typeface="Cambria"/>
                <a:cs typeface="Cambria"/>
              </a:rPr>
              <a:t> </a:t>
            </a:r>
            <a:r>
              <a:rPr lang="en-IN" b="1" spc="-50" dirty="0">
                <a:latin typeface="Cambria"/>
                <a:cs typeface="Cambria"/>
              </a:rPr>
              <a:t>4</a:t>
            </a:r>
          </a:p>
        </p:txBody>
      </p:sp>
      <p:sp>
        <p:nvSpPr>
          <p:cNvPr id="5" name="Title 1">
            <a:extLst>
              <a:ext uri="{FF2B5EF4-FFF2-40B4-BE49-F238E27FC236}">
                <a16:creationId xmlns:a16="http://schemas.microsoft.com/office/drawing/2014/main" id="{C00B3D90-D2A6-2B9B-C23C-A83B15176B47}"/>
              </a:ext>
            </a:extLst>
          </p:cNvPr>
          <p:cNvSpPr txBox="1">
            <a:spLocks/>
          </p:cNvSpPr>
          <p:nvPr/>
        </p:nvSpPr>
        <p:spPr>
          <a:xfrm>
            <a:off x="762000" y="685800"/>
            <a:ext cx="37338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IN" sz="3200" dirty="0">
                <a:solidFill>
                  <a:schemeClr val="tx1"/>
                </a:solidFill>
                <a:latin typeface="Eras Bold ITC" panose="020B0907030504020204" pitchFamily="34" charset="0"/>
              </a:rPr>
              <a:t>Abstract</a:t>
            </a:r>
          </a:p>
        </p:txBody>
      </p:sp>
      <p:sp>
        <p:nvSpPr>
          <p:cNvPr id="6" name="object 4">
            <a:extLst>
              <a:ext uri="{FF2B5EF4-FFF2-40B4-BE49-F238E27FC236}">
                <a16:creationId xmlns:a16="http://schemas.microsoft.com/office/drawing/2014/main" id="{98C923E1-0C80-07E7-9970-21AF7FBCE9DD}"/>
              </a:ext>
            </a:extLst>
          </p:cNvPr>
          <p:cNvSpPr txBox="1"/>
          <p:nvPr/>
        </p:nvSpPr>
        <p:spPr>
          <a:xfrm>
            <a:off x="798871" y="1676400"/>
            <a:ext cx="9484995" cy="2167901"/>
          </a:xfrm>
          <a:prstGeom prst="rect">
            <a:avLst/>
          </a:prstGeom>
        </p:spPr>
        <p:txBody>
          <a:bodyPr vert="horz" wrap="square" lIns="0" tIns="13335" rIns="0" bIns="0" rtlCol="0">
            <a:spAutoFit/>
          </a:bodyPr>
          <a:lstStyle/>
          <a:p>
            <a:r>
              <a:rPr lang="en-US" sz="2000" dirty="0">
                <a:latin typeface="Times New Roman" panose="02020603050405020304" pitchFamily="18" charset="0"/>
                <a:cs typeface="Times New Roman" panose="02020603050405020304" pitchFamily="18" charset="0"/>
              </a:rPr>
              <a:t>This project aims to develop a web-based system that can detect whether a news article is real or fake using </a:t>
            </a:r>
            <a:r>
              <a:rPr lang="en-US" sz="2000" b="1" dirty="0">
                <a:latin typeface="Times New Roman" panose="02020603050405020304" pitchFamily="18" charset="0"/>
                <a:cs typeface="Times New Roman" panose="02020603050405020304" pitchFamily="18" charset="0"/>
              </a:rPr>
              <a:t>Machine Learning (ML)</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Natural Language Processing (NLP)</a:t>
            </a:r>
            <a:r>
              <a:rPr lang="en-US" sz="2000" dirty="0">
                <a:latin typeface="Times New Roman" panose="02020603050405020304" pitchFamily="18" charset="0"/>
                <a:cs typeface="Times New Roman" panose="02020603050405020304" pitchFamily="18" charset="0"/>
              </a:rPr>
              <a:t>. The system allows users to check news by entering a </a:t>
            </a:r>
            <a:r>
              <a:rPr lang="en-US" sz="2000" b="1" dirty="0">
                <a:latin typeface="Times New Roman" panose="02020603050405020304" pitchFamily="18" charset="0"/>
                <a:cs typeface="Times New Roman" panose="02020603050405020304" pitchFamily="18" charset="0"/>
              </a:rPr>
              <a:t>URL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text</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image</a:t>
            </a:r>
            <a:r>
              <a:rPr lang="en-US" sz="2000" dirty="0">
                <a:latin typeface="Times New Roman" panose="02020603050405020304" pitchFamily="18" charset="0"/>
                <a:cs typeface="Times New Roman" panose="02020603050405020304" pitchFamily="18" charset="0"/>
              </a:rPr>
              <a:t> of the article. It will analyze the content and display the result as “Real” or “Fake.” The model will be trained using datasets from </a:t>
            </a:r>
            <a:r>
              <a:rPr lang="en-US" sz="2000" b="1" dirty="0">
                <a:latin typeface="Times New Roman" panose="02020603050405020304" pitchFamily="18" charset="0"/>
                <a:cs typeface="Times New Roman" panose="02020603050405020304" pitchFamily="18" charset="0"/>
              </a:rPr>
              <a:t>Kaggle</a:t>
            </a:r>
            <a:r>
              <a:rPr lang="en-US" sz="2000"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FakeNewsNet</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LIAR</a:t>
            </a:r>
            <a:r>
              <a:rPr lang="en-US" sz="2000" dirty="0">
                <a:latin typeface="Times New Roman" panose="02020603050405020304" pitchFamily="18" charset="0"/>
                <a:cs typeface="Times New Roman" panose="02020603050405020304" pitchFamily="18" charset="0"/>
              </a:rPr>
              <a:t>. The frontend is built with </a:t>
            </a:r>
            <a:r>
              <a:rPr lang="en-US" sz="2000" b="1" dirty="0">
                <a:latin typeface="Times New Roman" panose="02020603050405020304" pitchFamily="18" charset="0"/>
                <a:cs typeface="Times New Roman" panose="02020603050405020304" pitchFamily="18" charset="0"/>
              </a:rPr>
              <a:t>React.js</a:t>
            </a:r>
            <a:r>
              <a:rPr lang="en-US" sz="2000" dirty="0">
                <a:latin typeface="Times New Roman" panose="02020603050405020304" pitchFamily="18" charset="0"/>
                <a:cs typeface="Times New Roman" panose="02020603050405020304" pitchFamily="18" charset="0"/>
              </a:rPr>
              <a:t>, and the backend will use </a:t>
            </a:r>
            <a:r>
              <a:rPr lang="en-US" sz="2000" b="1" dirty="0">
                <a:latin typeface="Times New Roman" panose="02020603050405020304" pitchFamily="18" charset="0"/>
                <a:cs typeface="Times New Roman" panose="02020603050405020304" pitchFamily="18" charset="0"/>
              </a:rPr>
              <a:t>Python Flask</a:t>
            </a:r>
            <a:r>
              <a:rPr lang="en-US" sz="2000" dirty="0">
                <a:latin typeface="Times New Roman" panose="02020603050405020304" pitchFamily="18" charset="0"/>
                <a:cs typeface="Times New Roman" panose="02020603050405020304" pitchFamily="18" charset="0"/>
              </a:rPr>
              <a:t>. In the future, we plan to add a feature to detect fake social media accounts and enhance the model’s accuracy.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07EAB61-7C90-8457-0887-7811A304BFBE}"/>
              </a:ext>
            </a:extLst>
          </p:cNvPr>
          <p:cNvSpPr txBox="1">
            <a:spLocks/>
          </p:cNvSpPr>
          <p:nvPr/>
        </p:nvSpPr>
        <p:spPr>
          <a:xfrm>
            <a:off x="762000" y="685800"/>
            <a:ext cx="37338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IN" sz="3200" dirty="0">
                <a:solidFill>
                  <a:schemeClr val="tx1"/>
                </a:solidFill>
                <a:latin typeface="Eras Bold ITC" panose="020B0907030504020204" pitchFamily="34" charset="0"/>
              </a:rPr>
              <a:t>Literature Review</a:t>
            </a:r>
          </a:p>
        </p:txBody>
      </p:sp>
      <p:sp>
        <p:nvSpPr>
          <p:cNvPr id="11" name="object 4">
            <a:extLst>
              <a:ext uri="{FF2B5EF4-FFF2-40B4-BE49-F238E27FC236}">
                <a16:creationId xmlns:a16="http://schemas.microsoft.com/office/drawing/2014/main" id="{066CF554-FBA6-A10D-E3D1-8272379DFB44}"/>
              </a:ext>
            </a:extLst>
          </p:cNvPr>
          <p:cNvSpPr txBox="1"/>
          <p:nvPr/>
        </p:nvSpPr>
        <p:spPr>
          <a:xfrm>
            <a:off x="798871" y="1676400"/>
            <a:ext cx="9484995" cy="2167901"/>
          </a:xfrm>
          <a:prstGeom prst="rect">
            <a:avLst/>
          </a:prstGeom>
        </p:spPr>
        <p:txBody>
          <a:bodyPr vert="horz" wrap="square" lIns="0" tIns="13335" rIns="0" bIns="0" rtlCol="0">
            <a:spAutoFit/>
          </a:bodyPr>
          <a:lstStyle/>
          <a:p>
            <a:r>
              <a:rPr lang="en-US" sz="2000" dirty="0">
                <a:latin typeface="Times New Roman" panose="02020603050405020304" pitchFamily="18" charset="0"/>
                <a:cs typeface="Times New Roman" panose="02020603050405020304" pitchFamily="18" charset="0"/>
              </a:rPr>
              <a:t>Several studies on fake news detection focus on using Machine Learning (ML) and Natural Language Processing (NLP) to analyze text patterns. Algorithms like Logistic Regression and Random Forest, as well as deep learning models like LSTM, CNN, and transformer-based models such as BERT, have been shown to improve detection accuracy. Combining multiple models (ensemble methods) further enhances performance. These insights guided our approach using Python, Flask, and NLP techniques to build an effective fake news detection system.</a:t>
            </a:r>
          </a:p>
        </p:txBody>
      </p:sp>
      <p:sp>
        <p:nvSpPr>
          <p:cNvPr id="8" name="object 8"/>
          <p:cNvSpPr txBox="1"/>
          <p:nvPr/>
        </p:nvSpPr>
        <p:spPr>
          <a:xfrm>
            <a:off x="10784585" y="214121"/>
            <a:ext cx="899160"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sz="1800" b="1" dirty="0">
                <a:latin typeface="Cambria"/>
                <a:cs typeface="Cambria"/>
              </a:rPr>
              <a:t>-</a:t>
            </a:r>
            <a:r>
              <a:rPr lang="en-US" sz="1800" b="1" dirty="0">
                <a:latin typeface="Cambria"/>
                <a:cs typeface="Cambria"/>
              </a:rPr>
              <a:t> 5</a:t>
            </a:r>
            <a:r>
              <a:rPr sz="1800" b="1" spc="70" dirty="0">
                <a:latin typeface="Cambria"/>
                <a:cs typeface="Cambria"/>
              </a:rPr>
              <a:t> </a:t>
            </a:r>
            <a:endParaRPr sz="1800" dirty="0">
              <a:latin typeface="Cambria"/>
              <a:cs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935AD51-1CE0-8236-D816-DC1319277051}"/>
              </a:ext>
            </a:extLst>
          </p:cNvPr>
          <p:cNvGraphicFramePr>
            <a:graphicFrameLocks noGrp="1"/>
          </p:cNvGraphicFramePr>
          <p:nvPr>
            <p:extLst>
              <p:ext uri="{D42A27DB-BD31-4B8C-83A1-F6EECF244321}">
                <p14:modId xmlns:p14="http://schemas.microsoft.com/office/powerpoint/2010/main" val="3350107955"/>
              </p:ext>
            </p:extLst>
          </p:nvPr>
        </p:nvGraphicFramePr>
        <p:xfrm>
          <a:off x="1569040" y="1936955"/>
          <a:ext cx="9053920" cy="3401800"/>
        </p:xfrm>
        <a:graphic>
          <a:graphicData uri="http://schemas.openxmlformats.org/drawingml/2006/table">
            <a:tbl>
              <a:tblPr firstRow="1" bandRow="1">
                <a:tableStyleId>{5C22544A-7EE6-4342-B048-85BDC9FD1C3A}</a:tableStyleId>
              </a:tblPr>
              <a:tblGrid>
                <a:gridCol w="1478960">
                  <a:extLst>
                    <a:ext uri="{9D8B030D-6E8A-4147-A177-3AD203B41FA5}">
                      <a16:colId xmlns:a16="http://schemas.microsoft.com/office/drawing/2014/main" val="2214926381"/>
                    </a:ext>
                  </a:extLst>
                </a:gridCol>
                <a:gridCol w="1676400">
                  <a:extLst>
                    <a:ext uri="{9D8B030D-6E8A-4147-A177-3AD203B41FA5}">
                      <a16:colId xmlns:a16="http://schemas.microsoft.com/office/drawing/2014/main" val="2522931255"/>
                    </a:ext>
                  </a:extLst>
                </a:gridCol>
                <a:gridCol w="1371600">
                  <a:extLst>
                    <a:ext uri="{9D8B030D-6E8A-4147-A177-3AD203B41FA5}">
                      <a16:colId xmlns:a16="http://schemas.microsoft.com/office/drawing/2014/main" val="2393081870"/>
                    </a:ext>
                  </a:extLst>
                </a:gridCol>
                <a:gridCol w="1039045">
                  <a:extLst>
                    <a:ext uri="{9D8B030D-6E8A-4147-A177-3AD203B41FA5}">
                      <a16:colId xmlns:a16="http://schemas.microsoft.com/office/drawing/2014/main" val="2985922486"/>
                    </a:ext>
                  </a:extLst>
                </a:gridCol>
                <a:gridCol w="1040759">
                  <a:extLst>
                    <a:ext uri="{9D8B030D-6E8A-4147-A177-3AD203B41FA5}">
                      <a16:colId xmlns:a16="http://schemas.microsoft.com/office/drawing/2014/main" val="1291207522"/>
                    </a:ext>
                  </a:extLst>
                </a:gridCol>
                <a:gridCol w="1055743">
                  <a:extLst>
                    <a:ext uri="{9D8B030D-6E8A-4147-A177-3AD203B41FA5}">
                      <a16:colId xmlns:a16="http://schemas.microsoft.com/office/drawing/2014/main" val="4103287346"/>
                    </a:ext>
                  </a:extLst>
                </a:gridCol>
                <a:gridCol w="1391413">
                  <a:extLst>
                    <a:ext uri="{9D8B030D-6E8A-4147-A177-3AD203B41FA5}">
                      <a16:colId xmlns:a16="http://schemas.microsoft.com/office/drawing/2014/main" val="514761257"/>
                    </a:ext>
                  </a:extLst>
                </a:gridCol>
              </a:tblGrid>
              <a:tr h="594486">
                <a:tc>
                  <a:txBody>
                    <a:bodyPr/>
                    <a:lstStyle/>
                    <a:p>
                      <a:r>
                        <a:rPr lang="en-IN" dirty="0">
                          <a:solidFill>
                            <a:schemeClr val="bg1">
                              <a:lumMod val="85000"/>
                            </a:schemeClr>
                          </a:solidFill>
                        </a:rPr>
                        <a:t>POINT</a:t>
                      </a:r>
                    </a:p>
                  </a:txBody>
                  <a:tcPr/>
                </a:tc>
                <a:tc>
                  <a:txBody>
                    <a:bodyPr/>
                    <a:lstStyle/>
                    <a:p>
                      <a:r>
                        <a:rPr lang="en-IN" dirty="0"/>
                        <a:t>LOGISTIC</a:t>
                      </a:r>
                    </a:p>
                    <a:p>
                      <a:r>
                        <a:rPr lang="en-IN" dirty="0"/>
                        <a:t>REGRESSION</a:t>
                      </a:r>
                    </a:p>
                  </a:txBody>
                  <a:tcPr/>
                </a:tc>
                <a:tc>
                  <a:txBody>
                    <a:bodyPr/>
                    <a:lstStyle/>
                    <a:p>
                      <a:r>
                        <a:rPr lang="en-IN" dirty="0"/>
                        <a:t>ADABOOST</a:t>
                      </a:r>
                    </a:p>
                  </a:txBody>
                  <a:tcPr/>
                </a:tc>
                <a:tc>
                  <a:txBody>
                    <a:bodyPr/>
                    <a:lstStyle/>
                    <a:p>
                      <a:r>
                        <a:rPr lang="en-IN" dirty="0"/>
                        <a:t>SVM</a:t>
                      </a:r>
                    </a:p>
                  </a:txBody>
                  <a:tcPr/>
                </a:tc>
                <a:tc>
                  <a:txBody>
                    <a:bodyPr/>
                    <a:lstStyle/>
                    <a:p>
                      <a:r>
                        <a:rPr lang="en-IN" dirty="0"/>
                        <a:t>LSTM</a:t>
                      </a:r>
                    </a:p>
                  </a:txBody>
                  <a:tcPr/>
                </a:tc>
                <a:tc>
                  <a:txBody>
                    <a:bodyPr/>
                    <a:lstStyle/>
                    <a:p>
                      <a:r>
                        <a:rPr lang="en-IN" dirty="0"/>
                        <a:t>CNN</a:t>
                      </a:r>
                    </a:p>
                  </a:txBody>
                  <a:tcPr/>
                </a:tc>
                <a:tc>
                  <a:txBody>
                    <a:bodyPr/>
                    <a:lstStyle/>
                    <a:p>
                      <a:r>
                        <a:rPr lang="en-IN" dirty="0"/>
                        <a:t>CNN+LSTM</a:t>
                      </a:r>
                    </a:p>
                    <a:p>
                      <a:r>
                        <a:rPr lang="en-IN" dirty="0"/>
                        <a:t>(LSTMCNN)</a:t>
                      </a:r>
                    </a:p>
                  </a:txBody>
                  <a:tcPr/>
                </a:tc>
                <a:extLst>
                  <a:ext uri="{0D108BD9-81ED-4DB2-BD59-A6C34878D82A}">
                    <a16:rowId xmlns:a16="http://schemas.microsoft.com/office/drawing/2014/main" val="1454369057"/>
                  </a:ext>
                </a:extLst>
              </a:tr>
              <a:tr h="552344">
                <a:tc>
                  <a:txBody>
                    <a:bodyPr/>
                    <a:lstStyle/>
                    <a:p>
                      <a:r>
                        <a:rPr lang="en-IN" sz="2000" b="1" dirty="0"/>
                        <a:t>Model type</a:t>
                      </a:r>
                    </a:p>
                  </a:txBody>
                  <a:tcPr/>
                </a:tc>
                <a:tc>
                  <a:txBody>
                    <a:bodyPr/>
                    <a:lstStyle/>
                    <a:p>
                      <a:r>
                        <a:rPr lang="en-IN" dirty="0"/>
                        <a:t>ML</a:t>
                      </a:r>
                    </a:p>
                  </a:txBody>
                  <a:tcPr/>
                </a:tc>
                <a:tc>
                  <a:txBody>
                    <a:bodyPr/>
                    <a:lstStyle/>
                    <a:p>
                      <a:r>
                        <a:rPr lang="en-IN" dirty="0"/>
                        <a:t>ML</a:t>
                      </a:r>
                    </a:p>
                  </a:txBody>
                  <a:tcPr/>
                </a:tc>
                <a:tc>
                  <a:txBody>
                    <a:bodyPr/>
                    <a:lstStyle/>
                    <a:p>
                      <a:r>
                        <a:rPr lang="en-IN" dirty="0"/>
                        <a:t>ML</a:t>
                      </a:r>
                    </a:p>
                  </a:txBody>
                  <a:tcPr/>
                </a:tc>
                <a:tc>
                  <a:txBody>
                    <a:bodyPr/>
                    <a:lstStyle/>
                    <a:p>
                      <a:r>
                        <a:rPr lang="en-IN" dirty="0"/>
                        <a:t>DL</a:t>
                      </a:r>
                    </a:p>
                  </a:txBody>
                  <a:tcPr/>
                </a:tc>
                <a:tc>
                  <a:txBody>
                    <a:bodyPr/>
                    <a:lstStyle/>
                    <a:p>
                      <a:r>
                        <a:rPr lang="en-IN" dirty="0"/>
                        <a:t>DL</a:t>
                      </a:r>
                    </a:p>
                  </a:txBody>
                  <a:tcPr/>
                </a:tc>
                <a:tc>
                  <a:txBody>
                    <a:bodyPr/>
                    <a:lstStyle/>
                    <a:p>
                      <a:r>
                        <a:rPr lang="en-IN" dirty="0"/>
                        <a:t>Hybrid DL</a:t>
                      </a:r>
                    </a:p>
                  </a:txBody>
                  <a:tcPr/>
                </a:tc>
                <a:extLst>
                  <a:ext uri="{0D108BD9-81ED-4DB2-BD59-A6C34878D82A}">
                    <a16:rowId xmlns:a16="http://schemas.microsoft.com/office/drawing/2014/main" val="2298512308"/>
                  </a:ext>
                </a:extLst>
              </a:tr>
              <a:tr h="552344">
                <a:tc>
                  <a:txBody>
                    <a:bodyPr/>
                    <a:lstStyle/>
                    <a:p>
                      <a:r>
                        <a:rPr lang="en-IN" sz="2000" b="1" dirty="0"/>
                        <a:t>Accuracy</a:t>
                      </a:r>
                    </a:p>
                  </a:txBody>
                  <a:tcPr/>
                </a:tc>
                <a:tc>
                  <a:txBody>
                    <a:bodyPr/>
                    <a:lstStyle/>
                    <a:p>
                      <a:r>
                        <a:rPr lang="en-IN" dirty="0"/>
                        <a:t>0.95</a:t>
                      </a:r>
                    </a:p>
                  </a:txBody>
                  <a:tcPr/>
                </a:tc>
                <a:tc>
                  <a:txBody>
                    <a:bodyPr/>
                    <a:lstStyle/>
                    <a:p>
                      <a:r>
                        <a:rPr lang="en-IN" dirty="0"/>
                        <a:t>0.97</a:t>
                      </a:r>
                    </a:p>
                  </a:txBody>
                  <a:tcPr/>
                </a:tc>
                <a:tc>
                  <a:txBody>
                    <a:bodyPr/>
                    <a:lstStyle/>
                    <a:p>
                      <a:r>
                        <a:rPr lang="en-IN" dirty="0"/>
                        <a:t>0.98</a:t>
                      </a:r>
                    </a:p>
                  </a:txBody>
                  <a:tcPr/>
                </a:tc>
                <a:tc>
                  <a:txBody>
                    <a:bodyPr/>
                    <a:lstStyle/>
                    <a:p>
                      <a:r>
                        <a:rPr lang="en-IN" dirty="0"/>
                        <a:t>0.54</a:t>
                      </a:r>
                    </a:p>
                  </a:txBody>
                  <a:tcPr/>
                </a:tc>
                <a:tc>
                  <a:txBody>
                    <a:bodyPr/>
                    <a:lstStyle/>
                    <a:p>
                      <a:r>
                        <a:rPr lang="en-IN" dirty="0"/>
                        <a:t>0.925</a:t>
                      </a:r>
                    </a:p>
                  </a:txBody>
                  <a:tcPr/>
                </a:tc>
                <a:tc>
                  <a:txBody>
                    <a:bodyPr/>
                    <a:lstStyle/>
                    <a:p>
                      <a:r>
                        <a:rPr lang="en-IN" dirty="0"/>
                        <a:t>0.982</a:t>
                      </a:r>
                    </a:p>
                  </a:txBody>
                  <a:tcPr/>
                </a:tc>
                <a:extLst>
                  <a:ext uri="{0D108BD9-81ED-4DB2-BD59-A6C34878D82A}">
                    <a16:rowId xmlns:a16="http://schemas.microsoft.com/office/drawing/2014/main" val="1496672912"/>
                  </a:ext>
                </a:extLst>
              </a:tr>
              <a:tr h="552344">
                <a:tc>
                  <a:txBody>
                    <a:bodyPr/>
                    <a:lstStyle/>
                    <a:p>
                      <a:r>
                        <a:rPr lang="en-IN" sz="2000" b="1" dirty="0"/>
                        <a:t>Precision</a:t>
                      </a:r>
                    </a:p>
                  </a:txBody>
                  <a:tcPr/>
                </a:tc>
                <a:tc>
                  <a:txBody>
                    <a:bodyPr/>
                    <a:lstStyle/>
                    <a:p>
                      <a:r>
                        <a:rPr lang="en-IN" dirty="0"/>
                        <a:t>0.94</a:t>
                      </a:r>
                    </a:p>
                  </a:txBody>
                  <a:tcPr/>
                </a:tc>
                <a:tc>
                  <a:txBody>
                    <a:bodyPr/>
                    <a:lstStyle/>
                    <a:p>
                      <a:r>
                        <a:rPr lang="en-IN" dirty="0"/>
                        <a:t>0.96</a:t>
                      </a:r>
                    </a:p>
                  </a:txBody>
                  <a:tcPr/>
                </a:tc>
                <a:tc>
                  <a:txBody>
                    <a:bodyPr/>
                    <a:lstStyle/>
                    <a:p>
                      <a:r>
                        <a:rPr lang="en-IN" dirty="0"/>
                        <a:t>0.98</a:t>
                      </a:r>
                    </a:p>
                  </a:txBody>
                  <a:tcPr/>
                </a:tc>
                <a:tc>
                  <a:txBody>
                    <a:bodyPr/>
                    <a:lstStyle/>
                    <a:p>
                      <a:r>
                        <a:rPr lang="en-IN" dirty="0"/>
                        <a:t>0.65</a:t>
                      </a:r>
                    </a:p>
                  </a:txBody>
                  <a:tcPr/>
                </a:tc>
                <a:tc>
                  <a:txBody>
                    <a:bodyPr/>
                    <a:lstStyle/>
                    <a:p>
                      <a:r>
                        <a:rPr lang="en-IN" dirty="0"/>
                        <a:t>0.92</a:t>
                      </a:r>
                    </a:p>
                  </a:txBody>
                  <a:tcPr/>
                </a:tc>
                <a:tc>
                  <a:txBody>
                    <a:bodyPr/>
                    <a:lstStyle/>
                    <a:p>
                      <a:r>
                        <a:rPr lang="en-IN" dirty="0"/>
                        <a:t>0.989</a:t>
                      </a:r>
                    </a:p>
                  </a:txBody>
                  <a:tcPr/>
                </a:tc>
                <a:extLst>
                  <a:ext uri="{0D108BD9-81ED-4DB2-BD59-A6C34878D82A}">
                    <a16:rowId xmlns:a16="http://schemas.microsoft.com/office/drawing/2014/main" val="4290847075"/>
                  </a:ext>
                </a:extLst>
              </a:tr>
              <a:tr h="552344">
                <a:tc>
                  <a:txBody>
                    <a:bodyPr/>
                    <a:lstStyle/>
                    <a:p>
                      <a:r>
                        <a:rPr lang="en-IN" sz="2000" b="1" dirty="0"/>
                        <a:t>Recall</a:t>
                      </a:r>
                    </a:p>
                  </a:txBody>
                  <a:tcPr/>
                </a:tc>
                <a:tc>
                  <a:txBody>
                    <a:bodyPr/>
                    <a:lstStyle/>
                    <a:p>
                      <a:r>
                        <a:rPr lang="en-IN" dirty="0"/>
                        <a:t>0.943</a:t>
                      </a:r>
                    </a:p>
                  </a:txBody>
                  <a:tcPr/>
                </a:tc>
                <a:tc>
                  <a:txBody>
                    <a:bodyPr/>
                    <a:lstStyle/>
                    <a:p>
                      <a:r>
                        <a:rPr lang="en-IN" dirty="0"/>
                        <a:t>0.95</a:t>
                      </a:r>
                    </a:p>
                  </a:txBody>
                  <a:tcPr/>
                </a:tc>
                <a:tc>
                  <a:txBody>
                    <a:bodyPr/>
                    <a:lstStyle/>
                    <a:p>
                      <a:r>
                        <a:rPr lang="en-IN" dirty="0"/>
                        <a:t>0.98</a:t>
                      </a:r>
                    </a:p>
                  </a:txBody>
                  <a:tcPr/>
                </a:tc>
                <a:tc>
                  <a:txBody>
                    <a:bodyPr/>
                    <a:lstStyle/>
                    <a:p>
                      <a:r>
                        <a:rPr lang="en-IN" dirty="0"/>
                        <a:t>0.62</a:t>
                      </a:r>
                    </a:p>
                  </a:txBody>
                  <a:tcPr/>
                </a:tc>
                <a:tc>
                  <a:txBody>
                    <a:bodyPr/>
                    <a:lstStyle/>
                    <a:p>
                      <a:r>
                        <a:rPr lang="en-IN" dirty="0"/>
                        <a:t>0.93</a:t>
                      </a:r>
                    </a:p>
                  </a:txBody>
                  <a:tcPr/>
                </a:tc>
                <a:tc>
                  <a:txBody>
                    <a:bodyPr/>
                    <a:lstStyle/>
                    <a:p>
                      <a:r>
                        <a:rPr lang="en-IN" dirty="0"/>
                        <a:t>0.984</a:t>
                      </a:r>
                    </a:p>
                  </a:txBody>
                  <a:tcPr/>
                </a:tc>
                <a:extLst>
                  <a:ext uri="{0D108BD9-81ED-4DB2-BD59-A6C34878D82A}">
                    <a16:rowId xmlns:a16="http://schemas.microsoft.com/office/drawing/2014/main" val="589254736"/>
                  </a:ext>
                </a:extLst>
              </a:tr>
              <a:tr h="552344">
                <a:tc>
                  <a:txBody>
                    <a:bodyPr/>
                    <a:lstStyle/>
                    <a:p>
                      <a:r>
                        <a:rPr lang="en-IN" sz="2000" b="1" dirty="0"/>
                        <a:t>F1-Score</a:t>
                      </a:r>
                    </a:p>
                  </a:txBody>
                  <a:tcPr/>
                </a:tc>
                <a:tc>
                  <a:txBody>
                    <a:bodyPr/>
                    <a:lstStyle/>
                    <a:p>
                      <a:r>
                        <a:rPr lang="en-IN" dirty="0"/>
                        <a:t>0.93</a:t>
                      </a:r>
                    </a:p>
                  </a:txBody>
                  <a:tcPr/>
                </a:tc>
                <a:tc>
                  <a:txBody>
                    <a:bodyPr/>
                    <a:lstStyle/>
                    <a:p>
                      <a:r>
                        <a:rPr lang="en-IN" dirty="0"/>
                        <a:t>0.94</a:t>
                      </a:r>
                    </a:p>
                  </a:txBody>
                  <a:tcPr/>
                </a:tc>
                <a:tc>
                  <a:txBody>
                    <a:bodyPr/>
                    <a:lstStyle/>
                    <a:p>
                      <a:r>
                        <a:rPr lang="en-IN" dirty="0"/>
                        <a:t>0.98</a:t>
                      </a:r>
                    </a:p>
                  </a:txBody>
                  <a:tcPr/>
                </a:tc>
                <a:tc>
                  <a:txBody>
                    <a:bodyPr/>
                    <a:lstStyle/>
                    <a:p>
                      <a:r>
                        <a:rPr lang="en-IN" dirty="0"/>
                        <a:t>0.32</a:t>
                      </a:r>
                    </a:p>
                  </a:txBody>
                  <a:tcPr/>
                </a:tc>
                <a:tc>
                  <a:txBody>
                    <a:bodyPr/>
                    <a:lstStyle/>
                    <a:p>
                      <a:r>
                        <a:rPr lang="en-IN" dirty="0"/>
                        <a:t>0.925</a:t>
                      </a:r>
                    </a:p>
                  </a:txBody>
                  <a:tcPr/>
                </a:tc>
                <a:tc>
                  <a:txBody>
                    <a:bodyPr/>
                    <a:lstStyle/>
                    <a:p>
                      <a:r>
                        <a:rPr lang="en-IN" dirty="0"/>
                        <a:t>0.99</a:t>
                      </a:r>
                    </a:p>
                  </a:txBody>
                  <a:tcPr/>
                </a:tc>
                <a:extLst>
                  <a:ext uri="{0D108BD9-81ED-4DB2-BD59-A6C34878D82A}">
                    <a16:rowId xmlns:a16="http://schemas.microsoft.com/office/drawing/2014/main" val="3720648170"/>
                  </a:ext>
                </a:extLst>
              </a:tr>
            </a:tbl>
          </a:graphicData>
        </a:graphic>
      </p:graphicFrame>
      <p:sp>
        <p:nvSpPr>
          <p:cNvPr id="2" name="Title 1">
            <a:extLst>
              <a:ext uri="{FF2B5EF4-FFF2-40B4-BE49-F238E27FC236}">
                <a16:creationId xmlns:a16="http://schemas.microsoft.com/office/drawing/2014/main" id="{4B02B127-9125-9368-B7AE-504D290E2A67}"/>
              </a:ext>
            </a:extLst>
          </p:cNvPr>
          <p:cNvSpPr txBox="1">
            <a:spLocks/>
          </p:cNvSpPr>
          <p:nvPr/>
        </p:nvSpPr>
        <p:spPr>
          <a:xfrm>
            <a:off x="762000" y="685800"/>
            <a:ext cx="7315200" cy="984885"/>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3200" dirty="0">
                <a:solidFill>
                  <a:schemeClr val="tx1"/>
                </a:solidFill>
                <a:latin typeface="Eras Bold ITC" panose="020B0907030504020204" pitchFamily="34" charset="0"/>
              </a:rPr>
              <a:t>Comparison Between Different Types of Models</a:t>
            </a:r>
            <a:endParaRPr lang="en-IN" sz="3200" dirty="0">
              <a:solidFill>
                <a:schemeClr val="tx1"/>
              </a:solidFill>
              <a:latin typeface="Eras Bold ITC" panose="020B0907030504020204" pitchFamily="34" charset="0"/>
            </a:endParaRPr>
          </a:p>
        </p:txBody>
      </p:sp>
      <p:sp>
        <p:nvSpPr>
          <p:cNvPr id="3" name="object 8">
            <a:extLst>
              <a:ext uri="{FF2B5EF4-FFF2-40B4-BE49-F238E27FC236}">
                <a16:creationId xmlns:a16="http://schemas.microsoft.com/office/drawing/2014/main" id="{2B4E274C-BFEE-7629-72C6-2CAFFBB86D08}"/>
              </a:ext>
            </a:extLst>
          </p:cNvPr>
          <p:cNvSpPr txBox="1"/>
          <p:nvPr/>
        </p:nvSpPr>
        <p:spPr>
          <a:xfrm>
            <a:off x="10784585" y="214121"/>
            <a:ext cx="899160"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sz="1800" b="1" dirty="0">
                <a:latin typeface="Cambria"/>
                <a:cs typeface="Cambria"/>
              </a:rPr>
              <a:t>-</a:t>
            </a:r>
            <a:r>
              <a:rPr lang="en-US" sz="1800" b="1" dirty="0">
                <a:latin typeface="Cambria"/>
                <a:cs typeface="Cambria"/>
              </a:rPr>
              <a:t> 6</a:t>
            </a:r>
            <a:r>
              <a:rPr sz="1800" b="1" spc="70" dirty="0">
                <a:latin typeface="Cambria"/>
                <a:cs typeface="Cambria"/>
              </a:rPr>
              <a:t> </a:t>
            </a:r>
            <a:endParaRPr sz="1800" dirty="0">
              <a:latin typeface="Cambria"/>
              <a:cs typeface="Cambria"/>
            </a:endParaRPr>
          </a:p>
        </p:txBody>
      </p:sp>
    </p:spTree>
    <p:extLst>
      <p:ext uri="{BB962C8B-B14F-4D97-AF65-F5344CB8AC3E}">
        <p14:creationId xmlns:p14="http://schemas.microsoft.com/office/powerpoint/2010/main" val="1729045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C88C271-ACA3-8472-03F7-5250455CA8FA}"/>
              </a:ext>
            </a:extLst>
          </p:cNvPr>
          <p:cNvGraphicFramePr>
            <a:graphicFrameLocks noGrp="1"/>
          </p:cNvGraphicFramePr>
          <p:nvPr>
            <p:extLst>
              <p:ext uri="{D42A27DB-BD31-4B8C-83A1-F6EECF244321}">
                <p14:modId xmlns:p14="http://schemas.microsoft.com/office/powerpoint/2010/main" val="3416731426"/>
              </p:ext>
            </p:extLst>
          </p:nvPr>
        </p:nvGraphicFramePr>
        <p:xfrm>
          <a:off x="7374" y="472159"/>
          <a:ext cx="12184626" cy="6367800"/>
        </p:xfrm>
        <a:graphic>
          <a:graphicData uri="http://schemas.openxmlformats.org/drawingml/2006/table">
            <a:tbl>
              <a:tblPr firstRow="1" bandRow="1">
                <a:tableStyleId>{5C22544A-7EE6-4342-B048-85BDC9FD1C3A}</a:tableStyleId>
              </a:tblPr>
              <a:tblGrid>
                <a:gridCol w="3037083">
                  <a:extLst>
                    <a:ext uri="{9D8B030D-6E8A-4147-A177-3AD203B41FA5}">
                      <a16:colId xmlns:a16="http://schemas.microsoft.com/office/drawing/2014/main" val="2729326599"/>
                    </a:ext>
                  </a:extLst>
                </a:gridCol>
                <a:gridCol w="3049181">
                  <a:extLst>
                    <a:ext uri="{9D8B030D-6E8A-4147-A177-3AD203B41FA5}">
                      <a16:colId xmlns:a16="http://schemas.microsoft.com/office/drawing/2014/main" val="1531075885"/>
                    </a:ext>
                  </a:extLst>
                </a:gridCol>
                <a:gridCol w="3049181">
                  <a:extLst>
                    <a:ext uri="{9D8B030D-6E8A-4147-A177-3AD203B41FA5}">
                      <a16:colId xmlns:a16="http://schemas.microsoft.com/office/drawing/2014/main" val="728911240"/>
                    </a:ext>
                  </a:extLst>
                </a:gridCol>
                <a:gridCol w="3049181">
                  <a:extLst>
                    <a:ext uri="{9D8B030D-6E8A-4147-A177-3AD203B41FA5}">
                      <a16:colId xmlns:a16="http://schemas.microsoft.com/office/drawing/2014/main" val="1101038492"/>
                    </a:ext>
                  </a:extLst>
                </a:gridCol>
              </a:tblGrid>
              <a:tr h="485596">
                <a:tc>
                  <a:txBody>
                    <a:bodyPr/>
                    <a:lstStyle/>
                    <a:p>
                      <a:pPr algn="ctr"/>
                      <a:r>
                        <a:rPr lang="en-IN" dirty="0"/>
                        <a:t>Paper</a:t>
                      </a:r>
                    </a:p>
                  </a:txBody>
                  <a:tcPr/>
                </a:tc>
                <a:tc>
                  <a:txBody>
                    <a:bodyPr/>
                    <a:lstStyle/>
                    <a:p>
                      <a:pPr algn="ctr"/>
                      <a:r>
                        <a:rPr lang="en-IN" dirty="0"/>
                        <a:t>Abstract Summary</a:t>
                      </a:r>
                    </a:p>
                  </a:txBody>
                  <a:tcPr/>
                </a:tc>
                <a:tc>
                  <a:txBody>
                    <a:bodyPr/>
                    <a:lstStyle/>
                    <a:p>
                      <a:pPr algn="ctr"/>
                      <a:r>
                        <a:rPr lang="en-IN" dirty="0"/>
                        <a:t>Main Findings</a:t>
                      </a:r>
                    </a:p>
                  </a:txBody>
                  <a:tcPr/>
                </a:tc>
                <a:tc>
                  <a:txBody>
                    <a:bodyPr/>
                    <a:lstStyle/>
                    <a:p>
                      <a:pPr algn="ctr"/>
                      <a:r>
                        <a:rPr lang="en-IN" dirty="0"/>
                        <a:t>Outcome measured</a:t>
                      </a:r>
                    </a:p>
                  </a:txBody>
                  <a:tcPr/>
                </a:tc>
                <a:extLst>
                  <a:ext uri="{0D108BD9-81ED-4DB2-BD59-A6C34878D82A}">
                    <a16:rowId xmlns:a16="http://schemas.microsoft.com/office/drawing/2014/main" val="3026524954"/>
                  </a:ext>
                </a:extLst>
              </a:tr>
              <a:tr h="3215204">
                <a:tc>
                  <a:txBody>
                    <a:bodyPr/>
                    <a:lstStyle/>
                    <a:p>
                      <a:r>
                        <a:rPr lang="en-IN" sz="1400" b="1" dirty="0">
                          <a:solidFill>
                            <a:srgbClr val="002060"/>
                          </a:solidFill>
                        </a:rPr>
                        <a:t>Detection of fake news from social media using support vector machine learning algorithms</a:t>
                      </a:r>
                    </a:p>
                    <a:p>
                      <a:endParaRPr lang="en-IN" sz="1400" dirty="0">
                        <a:solidFill>
                          <a:srgbClr val="002060"/>
                        </a:solidFill>
                      </a:endParaRPr>
                    </a:p>
                    <a:p>
                      <a:r>
                        <a:rPr lang="en-IN" sz="1400" b="1" dirty="0"/>
                        <a:t>Authors: </a:t>
                      </a:r>
                      <a:r>
                        <a:rPr lang="en-IN" sz="1400" dirty="0">
                          <a:solidFill>
                            <a:srgbClr val="002060"/>
                          </a:solidFill>
                        </a:rPr>
                        <a:t>M. Sudhakar, K.P. Kaliyamurthie</a:t>
                      </a:r>
                    </a:p>
                    <a:p>
                      <a:endParaRPr lang="en-IN" sz="1400" dirty="0"/>
                    </a:p>
                    <a:p>
                      <a:r>
                        <a:rPr lang="en-US" sz="1400" b="1" dirty="0"/>
                        <a:t>Journal/Year: </a:t>
                      </a:r>
                      <a:r>
                        <a:rPr lang="en-US" sz="1400" dirty="0"/>
                        <a:t>Measurement: Sensors, 2024</a:t>
                      </a:r>
                    </a:p>
                    <a:p>
                      <a:endParaRPr lang="en-US" sz="1400" dirty="0"/>
                    </a:p>
                    <a:p>
                      <a:endParaRPr lang="en-US" sz="1400" dirty="0"/>
                    </a:p>
                    <a:p>
                      <a:r>
                        <a:rPr lang="en-US" sz="1800" dirty="0"/>
                        <a:t>*</a:t>
                      </a:r>
                      <a:r>
                        <a:rPr lang="en-US" sz="1200" dirty="0">
                          <a:solidFill>
                            <a:schemeClr val="accent4">
                              <a:lumMod val="50000"/>
                            </a:schemeClr>
                          </a:solidFill>
                        </a:rPr>
                        <a:t>https://www.sciencedirect.com/science/article/pii/S2665917424000047</a:t>
                      </a:r>
                      <a:endParaRPr lang="en-IN" sz="1800" dirty="0">
                        <a:solidFill>
                          <a:schemeClr val="accent4">
                            <a:lumMod val="50000"/>
                          </a:schemeClr>
                        </a:solidFill>
                      </a:endParaRPr>
                    </a:p>
                  </a:txBody>
                  <a:tcPr/>
                </a:tc>
                <a:tc>
                  <a:txBody>
                    <a:bodyPr/>
                    <a:lstStyle/>
                    <a:p>
                      <a:r>
                        <a:rPr lang="en-US" sz="1400" dirty="0"/>
                        <a:t>The paper investigates the capability of various machine learning classifiers and deep learning models for the task of fake news detection.</a:t>
                      </a:r>
                    </a:p>
                    <a:p>
                      <a:pPr marL="0" indent="0">
                        <a:buFont typeface="Arial" panose="020B0604020202020204" pitchFamily="34" charset="0"/>
                        <a:buNone/>
                      </a:pPr>
                      <a:r>
                        <a:rPr lang="en-US" sz="1400" dirty="0"/>
                        <a:t>&gt;The models tested include Naive Bayes, Logistic Regression, Support Vector Machine (SVM), Convolutional Neural Networks (CNN), and Long Short-Term Memory (LSTM).</a:t>
                      </a:r>
                    </a:p>
                    <a:p>
                      <a:pPr marL="0" indent="0">
                        <a:buFont typeface="Arial" panose="020B0604020202020204" pitchFamily="34" charset="0"/>
                        <a:buNone/>
                      </a:pPr>
                      <a:r>
                        <a:rPr lang="en-US" sz="1400" dirty="0"/>
                        <a:t>&gt;All models were trained and tested using a COVID-19 dataset composed of 1,375,592 tweets.</a:t>
                      </a:r>
                      <a:endParaRPr lang="en-IN" sz="2000" dirty="0"/>
                    </a:p>
                  </a:txBody>
                  <a:tcPr/>
                </a:tc>
                <a:tc>
                  <a:txBody>
                    <a:bodyPr/>
                    <a:lstStyle/>
                    <a:p>
                      <a:r>
                        <a:rPr lang="en-US" sz="1400" dirty="0"/>
                        <a:t>The study concluded that for their specific dataset, two machine learning algorithms provided a better solution than the deep learning model tested.</a:t>
                      </a:r>
                    </a:p>
                    <a:p>
                      <a:pPr marL="0" indent="0">
                        <a:buFont typeface="Arial" panose="020B0604020202020204" pitchFamily="34" charset="0"/>
                        <a:buNone/>
                      </a:pPr>
                      <a:r>
                        <a:rPr lang="en-US" sz="1400" dirty="0"/>
                        <a:t>&gt; SVM model achieved 98 % accuracy and Logistic Regression model also providing 95% accuracy.</a:t>
                      </a:r>
                    </a:p>
                    <a:p>
                      <a:pPr marL="0" indent="0">
                        <a:buFontTx/>
                        <a:buNone/>
                      </a:pPr>
                      <a:r>
                        <a:rPr lang="en-US" sz="1400" dirty="0"/>
                        <a:t>&gt;LSTM model was the lowest performing classifier, achieving an accuracy of 54%. The paper notes this result indicated that this type of data "doesn't need neural networks".</a:t>
                      </a:r>
                    </a:p>
                    <a:p>
                      <a:endParaRPr lang="en-IN" dirty="0"/>
                    </a:p>
                  </a:txBody>
                  <a:tcPr/>
                </a:tc>
                <a:tc>
                  <a:txBody>
                    <a:bodyPr/>
                    <a:lstStyle/>
                    <a:p>
                      <a:r>
                        <a:rPr lang="en-US" sz="1400" dirty="0"/>
                        <a:t>The primary outcomes measured to evaluate the performance of the different models were </a:t>
                      </a:r>
                    </a:p>
                    <a:p>
                      <a:pPr marL="285750" indent="-285750">
                        <a:buFont typeface="Arial" panose="020B0604020202020204" pitchFamily="34" charset="0"/>
                        <a:buChar char="•"/>
                      </a:pPr>
                      <a:r>
                        <a:rPr lang="en-US" sz="1400" dirty="0"/>
                        <a:t>Accuracy</a:t>
                      </a:r>
                    </a:p>
                    <a:p>
                      <a:pPr marL="285750" indent="-285750">
                        <a:buFont typeface="Arial" panose="020B0604020202020204" pitchFamily="34" charset="0"/>
                        <a:buChar char="•"/>
                      </a:pPr>
                      <a:r>
                        <a:rPr lang="en-US" sz="1400" dirty="0"/>
                        <a:t>precision score</a:t>
                      </a:r>
                    </a:p>
                    <a:p>
                      <a:pPr marL="285750" indent="-285750">
                        <a:buFont typeface="Arial" panose="020B0604020202020204" pitchFamily="34" charset="0"/>
                        <a:buChar char="•"/>
                      </a:pPr>
                      <a:r>
                        <a:rPr lang="en-US" sz="1400" dirty="0"/>
                        <a:t>Recall</a:t>
                      </a:r>
                    </a:p>
                    <a:p>
                      <a:pPr marL="285750" indent="-285750">
                        <a:buFont typeface="Arial" panose="020B0604020202020204" pitchFamily="34" charset="0"/>
                        <a:buChar char="•"/>
                      </a:pPr>
                      <a:r>
                        <a:rPr lang="en-US" sz="1400" dirty="0"/>
                        <a:t>F1 Score</a:t>
                      </a:r>
                      <a:endParaRPr lang="en-IN" sz="1400" dirty="0"/>
                    </a:p>
                  </a:txBody>
                  <a:tcPr/>
                </a:tc>
                <a:extLst>
                  <a:ext uri="{0D108BD9-81ED-4DB2-BD59-A6C34878D82A}">
                    <a16:rowId xmlns:a16="http://schemas.microsoft.com/office/drawing/2014/main" val="4066503666"/>
                  </a:ext>
                </a:extLst>
              </a:tr>
              <a:tr h="2648895">
                <a:tc>
                  <a:txBody>
                    <a:bodyPr/>
                    <a:lstStyle/>
                    <a:p>
                      <a:r>
                        <a:rPr lang="en-IN" sz="1400" b="1" dirty="0">
                          <a:solidFill>
                            <a:srgbClr val="002060"/>
                          </a:solidFill>
                        </a:rPr>
                        <a:t>LSTMCNN: A hybrid machine learning model to unmask fake news</a:t>
                      </a:r>
                    </a:p>
                    <a:p>
                      <a:endParaRPr lang="en-IN" sz="1400" b="1" dirty="0"/>
                    </a:p>
                    <a:p>
                      <a:r>
                        <a:rPr lang="en-IN" sz="1400" b="1" dirty="0">
                          <a:solidFill>
                            <a:srgbClr val="002060"/>
                          </a:solidFill>
                        </a:rPr>
                        <a:t>Authors: </a:t>
                      </a:r>
                      <a:r>
                        <a:rPr lang="en-IN" sz="1400" dirty="0">
                          <a:solidFill>
                            <a:srgbClr val="002060"/>
                          </a:solidFill>
                        </a:rPr>
                        <a:t>Deepali Goyal Dev, Vishal Bhatnagar, Bhoopesh Singh Bhati, Manoj Gupta, Aziz Nanthaamornphong</a:t>
                      </a:r>
                    </a:p>
                    <a:p>
                      <a:r>
                        <a:rPr lang="en-IN" sz="1400" b="1" dirty="0">
                          <a:solidFill>
                            <a:srgbClr val="002060"/>
                          </a:solidFill>
                        </a:rPr>
                        <a:t> </a:t>
                      </a:r>
                    </a:p>
                    <a:p>
                      <a:r>
                        <a:rPr lang="en-IN" sz="1400" b="1" dirty="0">
                          <a:solidFill>
                            <a:srgbClr val="002060"/>
                          </a:solidFill>
                        </a:rPr>
                        <a:t>Journal/Year: </a:t>
                      </a:r>
                      <a:r>
                        <a:rPr lang="en-IN" sz="1400" dirty="0">
                          <a:solidFill>
                            <a:srgbClr val="002060"/>
                          </a:solidFill>
                        </a:rPr>
                        <a:t>Heliyon, 2024</a:t>
                      </a:r>
                    </a:p>
                    <a:p>
                      <a:r>
                        <a:rPr lang="en-IN" sz="1800" dirty="0">
                          <a:solidFill>
                            <a:srgbClr val="002060"/>
                          </a:solidFill>
                        </a:rPr>
                        <a:t>*</a:t>
                      </a:r>
                      <a:r>
                        <a:rPr lang="en-IN" sz="1100" dirty="0">
                          <a:solidFill>
                            <a:srgbClr val="002060"/>
                          </a:solidFill>
                        </a:rPr>
                        <a:t>https://www.cell.com/heliyon/fulltext/S2405-8440(24)01275-1</a:t>
                      </a:r>
                      <a:endParaRPr lang="en-IN" sz="1800" dirty="0">
                        <a:solidFill>
                          <a:srgbClr val="002060"/>
                        </a:solidFill>
                      </a:endParaRPr>
                    </a:p>
                  </a:txBody>
                  <a:tcPr/>
                </a:tc>
                <a:tc>
                  <a:txBody>
                    <a:bodyPr/>
                    <a:lstStyle/>
                    <a:p>
                      <a:pPr marL="0" indent="0">
                        <a:buFont typeface="Arial" panose="020B0604020202020204" pitchFamily="34" charset="0"/>
                        <a:buNone/>
                      </a:pPr>
                      <a:r>
                        <a:rPr lang="en-US" sz="1400" dirty="0">
                          <a:solidFill>
                            <a:srgbClr val="002060"/>
                          </a:solidFill>
                        </a:rPr>
                        <a:t>The paper addresses the widespread dissemination of false information on online platforms, which poses a potential harm to individuals and society.</a:t>
                      </a:r>
                    </a:p>
                    <a:p>
                      <a:pPr marL="0" indent="0">
                        <a:buFont typeface="Arial" panose="020B0604020202020204" pitchFamily="34" charset="0"/>
                        <a:buNone/>
                      </a:pPr>
                      <a:r>
                        <a:rPr lang="en-US" sz="1400" dirty="0">
                          <a:solidFill>
                            <a:srgbClr val="002060"/>
                          </a:solidFill>
                        </a:rPr>
                        <a:t>To handle text data efficiently, the paper recommends using feature abstraction and vectorization tools, such as the Count Vectorizer and Tfidf Vectorizer from Python's sci-kit-learn module.</a:t>
                      </a:r>
                      <a:endParaRPr lang="en-IN" sz="1400" dirty="0">
                        <a:solidFill>
                          <a:srgbClr val="002060"/>
                        </a:solidFill>
                      </a:endParaRPr>
                    </a:p>
                  </a:txBody>
                  <a:tcPr/>
                </a:tc>
                <a:tc>
                  <a:txBody>
                    <a:bodyPr/>
                    <a:lstStyle/>
                    <a:p>
                      <a:r>
                        <a:rPr lang="en-US" sz="1400" dirty="0">
                          <a:solidFill>
                            <a:srgbClr val="002060"/>
                          </a:solidFill>
                        </a:rPr>
                        <a:t>The hybrid CNN + LSTM model achieved an accuracy of 98% in detecting fake news.</a:t>
                      </a:r>
                    </a:p>
                    <a:p>
                      <a:r>
                        <a:rPr lang="en-US" sz="1400" dirty="0">
                          <a:solidFill>
                            <a:srgbClr val="002060"/>
                          </a:solidFill>
                        </a:rPr>
                        <a:t> &gt;This hybrid approach outperformed other models tested, such as SNN (93% accuracy) and RNN + LSTM (91% accuracy).</a:t>
                      </a:r>
                    </a:p>
                    <a:p>
                      <a:r>
                        <a:rPr lang="en-US" sz="1400" dirty="0">
                          <a:solidFill>
                            <a:srgbClr val="002060"/>
                          </a:solidFill>
                        </a:rPr>
                        <a:t>&gt;When compared with other baseline studies, the proposed hybrid model demonstrated superior performance.</a:t>
                      </a:r>
                      <a:endParaRPr lang="en-IN" sz="1400" dirty="0">
                        <a:solidFill>
                          <a:srgbClr val="002060"/>
                        </a:solidFill>
                      </a:endParaRPr>
                    </a:p>
                  </a:txBody>
                  <a:tcPr/>
                </a:tc>
                <a:tc>
                  <a:txBody>
                    <a:bodyPr/>
                    <a:lstStyle/>
                    <a:p>
                      <a:r>
                        <a:rPr lang="en-US" sz="1400" dirty="0"/>
                        <a:t>The primary outcomes measured to evaluate the performance of the different models were </a:t>
                      </a:r>
                    </a:p>
                    <a:p>
                      <a:pPr marL="285750" indent="-285750">
                        <a:buFont typeface="Arial" panose="020B0604020202020204" pitchFamily="34" charset="0"/>
                        <a:buChar char="•"/>
                      </a:pPr>
                      <a:r>
                        <a:rPr lang="en-US" sz="1400" dirty="0"/>
                        <a:t>Accuracy</a:t>
                      </a:r>
                    </a:p>
                    <a:p>
                      <a:pPr marL="285750" indent="-285750">
                        <a:buFont typeface="Arial" panose="020B0604020202020204" pitchFamily="34" charset="0"/>
                        <a:buChar char="•"/>
                      </a:pPr>
                      <a:r>
                        <a:rPr lang="en-US" sz="1400" dirty="0"/>
                        <a:t>precision score</a:t>
                      </a:r>
                    </a:p>
                    <a:p>
                      <a:pPr marL="285750" indent="-285750">
                        <a:buFont typeface="Arial" panose="020B0604020202020204" pitchFamily="34" charset="0"/>
                        <a:buChar char="•"/>
                      </a:pPr>
                      <a:r>
                        <a:rPr lang="en-US" sz="1400" dirty="0"/>
                        <a:t>Recall</a:t>
                      </a:r>
                    </a:p>
                    <a:p>
                      <a:pPr marL="285750" indent="-285750">
                        <a:buFont typeface="Arial" panose="020B0604020202020204" pitchFamily="34" charset="0"/>
                        <a:buChar char="•"/>
                      </a:pPr>
                      <a:r>
                        <a:rPr lang="en-US" sz="1400" dirty="0"/>
                        <a:t>F1 Score</a:t>
                      </a:r>
                      <a:endParaRPr lang="en-IN" sz="1400" dirty="0"/>
                    </a:p>
                    <a:p>
                      <a:endParaRPr lang="en-IN" dirty="0"/>
                    </a:p>
                  </a:txBody>
                  <a:tcPr/>
                </a:tc>
                <a:extLst>
                  <a:ext uri="{0D108BD9-81ED-4DB2-BD59-A6C34878D82A}">
                    <a16:rowId xmlns:a16="http://schemas.microsoft.com/office/drawing/2014/main" val="1323507185"/>
                  </a:ext>
                </a:extLst>
              </a:tr>
            </a:tbl>
          </a:graphicData>
        </a:graphic>
      </p:graphicFrame>
      <p:sp>
        <p:nvSpPr>
          <p:cNvPr id="3" name="Title 1">
            <a:extLst>
              <a:ext uri="{FF2B5EF4-FFF2-40B4-BE49-F238E27FC236}">
                <a16:creationId xmlns:a16="http://schemas.microsoft.com/office/drawing/2014/main" id="{0D87240E-3BF7-0E61-014B-C267681E8D03}"/>
              </a:ext>
            </a:extLst>
          </p:cNvPr>
          <p:cNvSpPr txBox="1">
            <a:spLocks/>
          </p:cNvSpPr>
          <p:nvPr/>
        </p:nvSpPr>
        <p:spPr>
          <a:xfrm>
            <a:off x="381000" y="36146"/>
            <a:ext cx="54102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IN" sz="3200" dirty="0">
                <a:latin typeface="Eras Bold ITC" panose="020B0907030504020204" pitchFamily="34" charset="0"/>
              </a:rPr>
              <a:t>Review Research Paper</a:t>
            </a:r>
          </a:p>
        </p:txBody>
      </p:sp>
      <p:sp>
        <p:nvSpPr>
          <p:cNvPr id="4" name="object 8">
            <a:extLst>
              <a:ext uri="{FF2B5EF4-FFF2-40B4-BE49-F238E27FC236}">
                <a16:creationId xmlns:a16="http://schemas.microsoft.com/office/drawing/2014/main" id="{84835F18-1A61-9630-94E3-89F1C8FB16F1}"/>
              </a:ext>
            </a:extLst>
          </p:cNvPr>
          <p:cNvSpPr txBox="1"/>
          <p:nvPr/>
        </p:nvSpPr>
        <p:spPr>
          <a:xfrm>
            <a:off x="10784585" y="214121"/>
            <a:ext cx="899160"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sz="1800" b="1" dirty="0">
                <a:latin typeface="Cambria"/>
                <a:cs typeface="Cambria"/>
              </a:rPr>
              <a:t>-</a:t>
            </a:r>
            <a:r>
              <a:rPr lang="en-US" sz="1800" b="1" dirty="0">
                <a:latin typeface="Cambria"/>
                <a:cs typeface="Cambria"/>
              </a:rPr>
              <a:t> 7</a:t>
            </a:r>
            <a:r>
              <a:rPr sz="1800" b="1" spc="70" dirty="0">
                <a:latin typeface="Cambria"/>
                <a:cs typeface="Cambria"/>
              </a:rPr>
              <a:t> </a:t>
            </a:r>
            <a:endParaRPr sz="1800" dirty="0">
              <a:latin typeface="Cambria"/>
              <a:cs typeface="Cambria"/>
            </a:endParaRPr>
          </a:p>
        </p:txBody>
      </p:sp>
    </p:spTree>
    <p:extLst>
      <p:ext uri="{BB962C8B-B14F-4D97-AF65-F5344CB8AC3E}">
        <p14:creationId xmlns:p14="http://schemas.microsoft.com/office/powerpoint/2010/main" val="43791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xagon 1">
            <a:extLst>
              <a:ext uri="{FF2B5EF4-FFF2-40B4-BE49-F238E27FC236}">
                <a16:creationId xmlns:a16="http://schemas.microsoft.com/office/drawing/2014/main" id="{8ACA64D1-2BA1-0559-12E6-9601225D576F}"/>
              </a:ext>
            </a:extLst>
          </p:cNvPr>
          <p:cNvSpPr/>
          <p:nvPr/>
        </p:nvSpPr>
        <p:spPr>
          <a:xfrm>
            <a:off x="4864721" y="218921"/>
            <a:ext cx="2259291" cy="1901858"/>
          </a:xfrm>
          <a:prstGeom prst="hexagon">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solidFill>
                <a:srgbClr val="FFFF00"/>
              </a:solidFill>
            </a:endParaRPr>
          </a:p>
        </p:txBody>
      </p:sp>
      <p:sp>
        <p:nvSpPr>
          <p:cNvPr id="3" name="Hexagon 2">
            <a:extLst>
              <a:ext uri="{FF2B5EF4-FFF2-40B4-BE49-F238E27FC236}">
                <a16:creationId xmlns:a16="http://schemas.microsoft.com/office/drawing/2014/main" id="{7E7FAE69-1ADA-7F46-A9B3-026FDAD11C05}"/>
              </a:ext>
            </a:extLst>
          </p:cNvPr>
          <p:cNvSpPr/>
          <p:nvPr/>
        </p:nvSpPr>
        <p:spPr>
          <a:xfrm>
            <a:off x="7817667" y="878575"/>
            <a:ext cx="2259291" cy="1901858"/>
          </a:xfrm>
          <a:prstGeom prst="hexagon">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2">
                  <a:lumMod val="75000"/>
                </a:schemeClr>
              </a:solidFill>
              <a:latin typeface="Arial Rounded MT Bold" panose="020F0704030504030204" pitchFamily="34" charset="0"/>
            </a:endParaRPr>
          </a:p>
        </p:txBody>
      </p:sp>
      <p:sp>
        <p:nvSpPr>
          <p:cNvPr id="4" name="Hexagon 3">
            <a:extLst>
              <a:ext uri="{FF2B5EF4-FFF2-40B4-BE49-F238E27FC236}">
                <a16:creationId xmlns:a16="http://schemas.microsoft.com/office/drawing/2014/main" id="{A4D775B4-1E9A-0931-03CD-28B97A8E6D15}"/>
              </a:ext>
            </a:extLst>
          </p:cNvPr>
          <p:cNvSpPr/>
          <p:nvPr/>
        </p:nvSpPr>
        <p:spPr>
          <a:xfrm>
            <a:off x="8851471" y="3391997"/>
            <a:ext cx="2259291" cy="1901858"/>
          </a:xfrm>
          <a:prstGeom prst="hexagon">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Hexagon 4">
            <a:extLst>
              <a:ext uri="{FF2B5EF4-FFF2-40B4-BE49-F238E27FC236}">
                <a16:creationId xmlns:a16="http://schemas.microsoft.com/office/drawing/2014/main" id="{69BD7174-7FB7-72E2-0F64-706FD2896721}"/>
              </a:ext>
            </a:extLst>
          </p:cNvPr>
          <p:cNvSpPr/>
          <p:nvPr/>
        </p:nvSpPr>
        <p:spPr>
          <a:xfrm>
            <a:off x="1979330" y="843225"/>
            <a:ext cx="2259290" cy="1901857"/>
          </a:xfrm>
          <a:prstGeom prst="hexagon">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Hexagon 5">
            <a:extLst>
              <a:ext uri="{FF2B5EF4-FFF2-40B4-BE49-F238E27FC236}">
                <a16:creationId xmlns:a16="http://schemas.microsoft.com/office/drawing/2014/main" id="{44C9664D-06BD-D3A3-FDC8-4D1545CC40B5}"/>
              </a:ext>
            </a:extLst>
          </p:cNvPr>
          <p:cNvSpPr/>
          <p:nvPr/>
        </p:nvSpPr>
        <p:spPr>
          <a:xfrm>
            <a:off x="992660" y="3391997"/>
            <a:ext cx="2259290" cy="1901857"/>
          </a:xfrm>
          <a:prstGeom prst="hexagon">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Hexagon 6">
            <a:extLst>
              <a:ext uri="{FF2B5EF4-FFF2-40B4-BE49-F238E27FC236}">
                <a16:creationId xmlns:a16="http://schemas.microsoft.com/office/drawing/2014/main" id="{5EA12E7E-37F7-42EA-67A4-2B8C9BE3D06D}"/>
              </a:ext>
            </a:extLst>
          </p:cNvPr>
          <p:cNvSpPr/>
          <p:nvPr/>
        </p:nvSpPr>
        <p:spPr>
          <a:xfrm>
            <a:off x="3251950" y="4839011"/>
            <a:ext cx="2259290" cy="1901858"/>
          </a:xfrm>
          <a:prstGeom prst="hexagon">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Hexagon 7">
            <a:extLst>
              <a:ext uri="{FF2B5EF4-FFF2-40B4-BE49-F238E27FC236}">
                <a16:creationId xmlns:a16="http://schemas.microsoft.com/office/drawing/2014/main" id="{F4EE8991-F03A-326A-3FE4-0CAD0B8CDA47}"/>
              </a:ext>
            </a:extLst>
          </p:cNvPr>
          <p:cNvSpPr/>
          <p:nvPr/>
        </p:nvSpPr>
        <p:spPr>
          <a:xfrm>
            <a:off x="6174261" y="4839011"/>
            <a:ext cx="2259290" cy="1901857"/>
          </a:xfrm>
          <a:prstGeom prst="hexagon">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382AE820-1830-1380-48B8-97B4C615DD35}"/>
              </a:ext>
            </a:extLst>
          </p:cNvPr>
          <p:cNvCxnSpPr>
            <a:cxnSpLocks/>
          </p:cNvCxnSpPr>
          <p:nvPr/>
        </p:nvCxnSpPr>
        <p:spPr>
          <a:xfrm>
            <a:off x="7124012" y="1333419"/>
            <a:ext cx="841341" cy="27455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AC8BD5FA-60A3-598E-1652-3A4BDF684839}"/>
              </a:ext>
            </a:extLst>
          </p:cNvPr>
          <p:cNvCxnSpPr>
            <a:cxnSpLocks/>
          </p:cNvCxnSpPr>
          <p:nvPr/>
        </p:nvCxnSpPr>
        <p:spPr>
          <a:xfrm>
            <a:off x="9497204" y="2780433"/>
            <a:ext cx="89559" cy="61156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9A58DD98-0414-52A6-E370-45B1107B90A3}"/>
              </a:ext>
            </a:extLst>
          </p:cNvPr>
          <p:cNvCxnSpPr>
            <a:cxnSpLocks/>
          </p:cNvCxnSpPr>
          <p:nvPr/>
        </p:nvCxnSpPr>
        <p:spPr>
          <a:xfrm flipH="1">
            <a:off x="8314145" y="5047578"/>
            <a:ext cx="871585" cy="51022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6DD5387E-C82E-095B-6101-D3AF1C61D6FD}"/>
              </a:ext>
            </a:extLst>
          </p:cNvPr>
          <p:cNvCxnSpPr>
            <a:cxnSpLocks/>
          </p:cNvCxnSpPr>
          <p:nvPr/>
        </p:nvCxnSpPr>
        <p:spPr>
          <a:xfrm flipH="1">
            <a:off x="5511240" y="5789939"/>
            <a:ext cx="72350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70FCC0F0-2A58-9B0A-6AC3-1A96DC037A73}"/>
              </a:ext>
            </a:extLst>
          </p:cNvPr>
          <p:cNvCxnSpPr>
            <a:cxnSpLocks/>
          </p:cNvCxnSpPr>
          <p:nvPr/>
        </p:nvCxnSpPr>
        <p:spPr>
          <a:xfrm flipH="1" flipV="1">
            <a:off x="3073429" y="4688771"/>
            <a:ext cx="568161" cy="35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A6681A40-E203-A4B3-2188-A5D466E75343}"/>
              </a:ext>
            </a:extLst>
          </p:cNvPr>
          <p:cNvCxnSpPr>
            <a:cxnSpLocks/>
          </p:cNvCxnSpPr>
          <p:nvPr/>
        </p:nvCxnSpPr>
        <p:spPr>
          <a:xfrm flipV="1">
            <a:off x="2375258" y="2745082"/>
            <a:ext cx="165556" cy="6469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a:extLst>
              <a:ext uri="{FF2B5EF4-FFF2-40B4-BE49-F238E27FC236}">
                <a16:creationId xmlns:a16="http://schemas.microsoft.com/office/drawing/2014/main" id="{8A6A5F2B-F13E-29F4-00BA-8A593A172905}"/>
              </a:ext>
            </a:extLst>
          </p:cNvPr>
          <p:cNvCxnSpPr>
            <a:cxnSpLocks/>
          </p:cNvCxnSpPr>
          <p:nvPr/>
        </p:nvCxnSpPr>
        <p:spPr>
          <a:xfrm flipV="1">
            <a:off x="4100457" y="1333419"/>
            <a:ext cx="818709" cy="18426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7" name="TextBox 36">
            <a:extLst>
              <a:ext uri="{FF2B5EF4-FFF2-40B4-BE49-F238E27FC236}">
                <a16:creationId xmlns:a16="http://schemas.microsoft.com/office/drawing/2014/main" id="{99E9FAE0-B866-3210-32AA-4E60F6153C29}"/>
              </a:ext>
            </a:extLst>
          </p:cNvPr>
          <p:cNvSpPr txBox="1"/>
          <p:nvPr/>
        </p:nvSpPr>
        <p:spPr>
          <a:xfrm>
            <a:off x="7872369" y="878574"/>
            <a:ext cx="2149885" cy="1415772"/>
          </a:xfrm>
          <a:prstGeom prst="rect">
            <a:avLst/>
          </a:prstGeom>
          <a:noFill/>
        </p:spPr>
        <p:txBody>
          <a:bodyPr wrap="square" rtlCol="0">
            <a:spAutoFit/>
          </a:bodyPr>
          <a:lstStyle/>
          <a:p>
            <a:pPr algn="ctr"/>
            <a:r>
              <a:rPr lang="en-IN" dirty="0">
                <a:solidFill>
                  <a:schemeClr val="accent2">
                    <a:lumMod val="75000"/>
                  </a:schemeClr>
                </a:solidFill>
                <a:latin typeface="Arial Rounded MT Bold" panose="020F0704030504030204" pitchFamily="34" charset="0"/>
              </a:rPr>
              <a:t>	</a:t>
            </a:r>
          </a:p>
          <a:p>
            <a:pPr algn="ctr"/>
            <a:r>
              <a:rPr lang="en-IN" dirty="0">
                <a:solidFill>
                  <a:schemeClr val="accent2">
                    <a:lumMod val="75000"/>
                  </a:schemeClr>
                </a:solidFill>
                <a:latin typeface="Arial Rounded MT Bold" panose="020F0704030504030204" pitchFamily="34" charset="0"/>
              </a:rPr>
              <a:t> Requirements</a:t>
            </a:r>
          </a:p>
          <a:p>
            <a:pPr algn="ctr"/>
            <a:r>
              <a:rPr lang="en-IN" dirty="0"/>
              <a:t>*</a:t>
            </a:r>
            <a:r>
              <a:rPr lang="en-IN" sz="1600" dirty="0"/>
              <a:t>Multimodal Input</a:t>
            </a:r>
          </a:p>
          <a:p>
            <a:pPr algn="ctr"/>
            <a:r>
              <a:rPr lang="en-IN" sz="1600" dirty="0"/>
              <a:t>*Performance Target</a:t>
            </a:r>
          </a:p>
          <a:p>
            <a:pPr algn="ctr"/>
            <a:r>
              <a:rPr lang="en-IN" sz="1600" dirty="0"/>
              <a:t>*Speed</a:t>
            </a:r>
          </a:p>
        </p:txBody>
      </p:sp>
      <p:sp>
        <p:nvSpPr>
          <p:cNvPr id="38" name="TextBox 37">
            <a:extLst>
              <a:ext uri="{FF2B5EF4-FFF2-40B4-BE49-F238E27FC236}">
                <a16:creationId xmlns:a16="http://schemas.microsoft.com/office/drawing/2014/main" id="{4EC1E2EA-1FA2-63F4-0786-D432893AEAE7}"/>
              </a:ext>
            </a:extLst>
          </p:cNvPr>
          <p:cNvSpPr txBox="1"/>
          <p:nvPr/>
        </p:nvSpPr>
        <p:spPr>
          <a:xfrm>
            <a:off x="4272850" y="9832"/>
            <a:ext cx="2843754" cy="1569660"/>
          </a:xfrm>
          <a:prstGeom prst="rect">
            <a:avLst/>
          </a:prstGeom>
          <a:noFill/>
        </p:spPr>
        <p:txBody>
          <a:bodyPr wrap="square" rtlCol="0">
            <a:spAutoFit/>
          </a:bodyPr>
          <a:lstStyle/>
          <a:p>
            <a:pPr algn="ctr"/>
            <a:r>
              <a:rPr lang="en-IN" sz="2000" dirty="0">
                <a:solidFill>
                  <a:schemeClr val="accent2">
                    <a:lumMod val="50000"/>
                  </a:schemeClr>
                </a:solidFill>
                <a:latin typeface="Arial Rounded MT Bold" panose="020F0704030504030204" pitchFamily="34" charset="0"/>
              </a:rPr>
              <a:t>           </a:t>
            </a:r>
          </a:p>
          <a:p>
            <a:pPr algn="ctr"/>
            <a:r>
              <a:rPr lang="en-IN" sz="2000" dirty="0">
                <a:solidFill>
                  <a:schemeClr val="accent2">
                    <a:lumMod val="50000"/>
                  </a:schemeClr>
                </a:solidFill>
                <a:latin typeface="Arial Rounded MT Bold" panose="020F0704030504030204" pitchFamily="34" charset="0"/>
              </a:rPr>
              <a:t>            Planning</a:t>
            </a:r>
          </a:p>
          <a:p>
            <a:pPr algn="ctr"/>
            <a:r>
              <a:rPr lang="en-IN" sz="2400" dirty="0">
                <a:solidFill>
                  <a:schemeClr val="accent2">
                    <a:lumMod val="50000"/>
                  </a:schemeClr>
                </a:solidFill>
                <a:latin typeface="Arial Rounded MT Bold" panose="020F0704030504030204" pitchFamily="34" charset="0"/>
              </a:rPr>
              <a:t>         </a:t>
            </a:r>
            <a:r>
              <a:rPr lang="en-IN" sz="1600" dirty="0"/>
              <a:t>*Goal Definition</a:t>
            </a:r>
          </a:p>
          <a:p>
            <a:pPr algn="ctr"/>
            <a:r>
              <a:rPr lang="en-IN" sz="1600" dirty="0"/>
              <a:t>         *Problem Identification</a:t>
            </a:r>
          </a:p>
          <a:p>
            <a:pPr algn="ctr"/>
            <a:r>
              <a:rPr lang="en-IN" sz="1600" dirty="0"/>
              <a:t>              *Feasibility Study</a:t>
            </a:r>
          </a:p>
        </p:txBody>
      </p:sp>
      <p:sp>
        <p:nvSpPr>
          <p:cNvPr id="39" name="TextBox 38">
            <a:extLst>
              <a:ext uri="{FF2B5EF4-FFF2-40B4-BE49-F238E27FC236}">
                <a16:creationId xmlns:a16="http://schemas.microsoft.com/office/drawing/2014/main" id="{E8DAAA5A-10A1-5E4E-D77C-AEB708A8345A}"/>
              </a:ext>
            </a:extLst>
          </p:cNvPr>
          <p:cNvSpPr txBox="1"/>
          <p:nvPr/>
        </p:nvSpPr>
        <p:spPr>
          <a:xfrm>
            <a:off x="8685615" y="3293772"/>
            <a:ext cx="2432119" cy="1702387"/>
          </a:xfrm>
          <a:prstGeom prst="rect">
            <a:avLst/>
          </a:prstGeom>
          <a:noFill/>
        </p:spPr>
        <p:txBody>
          <a:bodyPr wrap="square" rtlCol="0">
            <a:spAutoFit/>
          </a:bodyPr>
          <a:lstStyle/>
          <a:p>
            <a:pPr algn="ctr"/>
            <a:endParaRPr lang="en-IN" dirty="0"/>
          </a:p>
          <a:p>
            <a:pPr algn="ctr"/>
            <a:r>
              <a:rPr lang="en-IN" sz="2000" dirty="0">
                <a:latin typeface="Arial Rounded MT Bold" panose="020F0704030504030204" pitchFamily="34" charset="0"/>
              </a:rPr>
              <a:t> </a:t>
            </a:r>
            <a:r>
              <a:rPr lang="en-IN" sz="2000" dirty="0">
                <a:solidFill>
                  <a:schemeClr val="accent2">
                    <a:lumMod val="50000"/>
                  </a:schemeClr>
                </a:solidFill>
                <a:latin typeface="Arial Rounded MT Bold" panose="020F0704030504030204" pitchFamily="34" charset="0"/>
              </a:rPr>
              <a:t>Design</a:t>
            </a:r>
          </a:p>
          <a:p>
            <a:pPr algn="ctr"/>
            <a:endParaRPr lang="en-IN" dirty="0"/>
          </a:p>
          <a:p>
            <a:pPr algn="ctr"/>
            <a:r>
              <a:rPr lang="en-IN" sz="1600" dirty="0"/>
              <a:t>*System Architecture                Definition</a:t>
            </a:r>
          </a:p>
          <a:p>
            <a:pPr algn="ctr"/>
            <a:r>
              <a:rPr lang="en-IN" sz="1600" dirty="0"/>
              <a:t>    *Model Selection</a:t>
            </a:r>
          </a:p>
        </p:txBody>
      </p:sp>
      <p:sp>
        <p:nvSpPr>
          <p:cNvPr id="40" name="TextBox 39">
            <a:extLst>
              <a:ext uri="{FF2B5EF4-FFF2-40B4-BE49-F238E27FC236}">
                <a16:creationId xmlns:a16="http://schemas.microsoft.com/office/drawing/2014/main" id="{3F8C3D8A-C5D9-99A2-C005-1973963F3EDD}"/>
              </a:ext>
            </a:extLst>
          </p:cNvPr>
          <p:cNvSpPr txBox="1"/>
          <p:nvPr/>
        </p:nvSpPr>
        <p:spPr>
          <a:xfrm>
            <a:off x="5775534" y="4811790"/>
            <a:ext cx="2645788" cy="1692771"/>
          </a:xfrm>
          <a:prstGeom prst="rect">
            <a:avLst/>
          </a:prstGeom>
          <a:noFill/>
        </p:spPr>
        <p:txBody>
          <a:bodyPr wrap="square" rtlCol="0">
            <a:spAutoFit/>
          </a:bodyPr>
          <a:lstStyle/>
          <a:p>
            <a:pPr algn="ctr"/>
            <a:endParaRPr lang="en-IN" sz="2000" dirty="0">
              <a:solidFill>
                <a:schemeClr val="accent2">
                  <a:lumMod val="50000"/>
                </a:schemeClr>
              </a:solidFill>
              <a:latin typeface="Arial Rounded MT Bold" panose="020F0704030504030204" pitchFamily="34" charset="0"/>
            </a:endParaRPr>
          </a:p>
          <a:p>
            <a:pPr algn="ctr"/>
            <a:r>
              <a:rPr lang="en-IN" sz="2000" dirty="0">
                <a:solidFill>
                  <a:schemeClr val="accent2">
                    <a:lumMod val="50000"/>
                  </a:schemeClr>
                </a:solidFill>
                <a:latin typeface="Arial Rounded MT Bold" panose="020F0704030504030204" pitchFamily="34" charset="0"/>
              </a:rPr>
              <a:t>      Development</a:t>
            </a:r>
          </a:p>
          <a:p>
            <a:pPr algn="ctr"/>
            <a:r>
              <a:rPr lang="en-IN" sz="1600" dirty="0"/>
              <a:t>    </a:t>
            </a:r>
          </a:p>
          <a:p>
            <a:pPr algn="ctr"/>
            <a:r>
              <a:rPr lang="en-IN" sz="1600" dirty="0"/>
              <a:t>       *Data Collection</a:t>
            </a:r>
          </a:p>
          <a:p>
            <a:pPr algn="ctr"/>
            <a:r>
              <a:rPr lang="en-IN" sz="1600" dirty="0"/>
              <a:t>       *Feature Extraction</a:t>
            </a:r>
          </a:p>
          <a:p>
            <a:pPr algn="ctr"/>
            <a:r>
              <a:rPr lang="en-IN" sz="1600" dirty="0"/>
              <a:t>          *Model Training</a:t>
            </a:r>
          </a:p>
        </p:txBody>
      </p:sp>
      <p:sp>
        <p:nvSpPr>
          <p:cNvPr id="42" name="TextBox 41">
            <a:extLst>
              <a:ext uri="{FF2B5EF4-FFF2-40B4-BE49-F238E27FC236}">
                <a16:creationId xmlns:a16="http://schemas.microsoft.com/office/drawing/2014/main" id="{DD6EA660-5387-6928-A85C-01F55B318B1E}"/>
              </a:ext>
            </a:extLst>
          </p:cNvPr>
          <p:cNvSpPr txBox="1"/>
          <p:nvPr/>
        </p:nvSpPr>
        <p:spPr>
          <a:xfrm>
            <a:off x="3276600" y="4627342"/>
            <a:ext cx="2212745" cy="1929274"/>
          </a:xfrm>
          <a:prstGeom prst="rect">
            <a:avLst/>
          </a:prstGeom>
          <a:noFill/>
        </p:spPr>
        <p:txBody>
          <a:bodyPr wrap="square" rtlCol="0">
            <a:spAutoFit/>
          </a:bodyPr>
          <a:lstStyle/>
          <a:p>
            <a:pPr algn="ctr"/>
            <a:endParaRPr lang="en-IN" sz="2000" dirty="0">
              <a:solidFill>
                <a:schemeClr val="accent2">
                  <a:lumMod val="50000"/>
                </a:schemeClr>
              </a:solidFill>
              <a:latin typeface="Arial Rounded MT Bold" panose="020F0704030504030204" pitchFamily="34" charset="0"/>
            </a:endParaRPr>
          </a:p>
          <a:p>
            <a:pPr algn="ctr"/>
            <a:r>
              <a:rPr lang="en-IN" sz="2000" dirty="0">
                <a:solidFill>
                  <a:schemeClr val="accent2">
                    <a:lumMod val="50000"/>
                  </a:schemeClr>
                </a:solidFill>
                <a:latin typeface="Arial Rounded MT Bold" panose="020F0704030504030204" pitchFamily="34" charset="0"/>
              </a:rPr>
              <a:t>Testing</a:t>
            </a:r>
          </a:p>
          <a:p>
            <a:pPr algn="ctr"/>
            <a:r>
              <a:rPr lang="en-IN" sz="1600" dirty="0"/>
              <a:t>*Model Performance Evaluation</a:t>
            </a:r>
          </a:p>
          <a:p>
            <a:pPr algn="ctr"/>
            <a:r>
              <a:rPr lang="en-US" sz="1600" dirty="0"/>
              <a:t>*Key Metrics: Accuracy, Precision, Recall, F1-  Score</a:t>
            </a:r>
            <a:endParaRPr lang="en-IN" sz="1600" dirty="0"/>
          </a:p>
        </p:txBody>
      </p:sp>
      <p:sp>
        <p:nvSpPr>
          <p:cNvPr id="43" name="TextBox 42">
            <a:extLst>
              <a:ext uri="{FF2B5EF4-FFF2-40B4-BE49-F238E27FC236}">
                <a16:creationId xmlns:a16="http://schemas.microsoft.com/office/drawing/2014/main" id="{0B75D7AE-3B68-4CAF-A211-E85F0A268AA9}"/>
              </a:ext>
            </a:extLst>
          </p:cNvPr>
          <p:cNvSpPr txBox="1"/>
          <p:nvPr/>
        </p:nvSpPr>
        <p:spPr>
          <a:xfrm>
            <a:off x="1148397" y="3496542"/>
            <a:ext cx="2386358" cy="1692771"/>
          </a:xfrm>
          <a:prstGeom prst="rect">
            <a:avLst/>
          </a:prstGeom>
          <a:noFill/>
        </p:spPr>
        <p:txBody>
          <a:bodyPr wrap="square" rtlCol="0">
            <a:spAutoFit/>
          </a:bodyPr>
          <a:lstStyle/>
          <a:p>
            <a:r>
              <a:rPr lang="en-IN" sz="2000" dirty="0">
                <a:solidFill>
                  <a:schemeClr val="accent2">
                    <a:lumMod val="50000"/>
                  </a:schemeClr>
                </a:solidFill>
                <a:latin typeface="Arial Rounded MT Bold" panose="020F0704030504030204" pitchFamily="34" charset="0"/>
              </a:rPr>
              <a:t>   Deployment</a:t>
            </a:r>
          </a:p>
          <a:p>
            <a:r>
              <a:rPr lang="en-US" dirty="0"/>
              <a:t>   </a:t>
            </a:r>
          </a:p>
          <a:p>
            <a:r>
              <a:rPr lang="en-US" dirty="0"/>
              <a:t>*</a:t>
            </a:r>
            <a:r>
              <a:rPr lang="en-US" sz="1600" dirty="0"/>
              <a:t>Release as a live                     application for user</a:t>
            </a:r>
          </a:p>
          <a:p>
            <a:r>
              <a:rPr lang="en-US" sz="1600" dirty="0"/>
              <a:t>queries.</a:t>
            </a:r>
          </a:p>
          <a:p>
            <a:r>
              <a:rPr lang="en-US" sz="1600" dirty="0"/>
              <a:t>  </a:t>
            </a:r>
          </a:p>
        </p:txBody>
      </p:sp>
      <p:sp>
        <p:nvSpPr>
          <p:cNvPr id="44" name="TextBox 43">
            <a:extLst>
              <a:ext uri="{FF2B5EF4-FFF2-40B4-BE49-F238E27FC236}">
                <a16:creationId xmlns:a16="http://schemas.microsoft.com/office/drawing/2014/main" id="{583BA70B-9968-BB30-AED7-C3BA35FB96B2}"/>
              </a:ext>
            </a:extLst>
          </p:cNvPr>
          <p:cNvSpPr txBox="1"/>
          <p:nvPr/>
        </p:nvSpPr>
        <p:spPr>
          <a:xfrm>
            <a:off x="1967392" y="777721"/>
            <a:ext cx="2297546" cy="1692771"/>
          </a:xfrm>
          <a:prstGeom prst="rect">
            <a:avLst/>
          </a:prstGeom>
          <a:noFill/>
        </p:spPr>
        <p:txBody>
          <a:bodyPr wrap="square" rtlCol="0">
            <a:spAutoFit/>
          </a:bodyPr>
          <a:lstStyle/>
          <a:p>
            <a:r>
              <a:rPr lang="en-IN" dirty="0"/>
              <a:t>    </a:t>
            </a:r>
          </a:p>
          <a:p>
            <a:pPr algn="ctr"/>
            <a:r>
              <a:rPr lang="en-IN" sz="2000" dirty="0">
                <a:latin typeface="Arial Rounded MT Bold" panose="020F0704030504030204" pitchFamily="34" charset="0"/>
              </a:rPr>
              <a:t>  </a:t>
            </a:r>
            <a:r>
              <a:rPr lang="en-IN" sz="2000" dirty="0">
                <a:solidFill>
                  <a:schemeClr val="accent2">
                    <a:lumMod val="50000"/>
                  </a:schemeClr>
                </a:solidFill>
                <a:latin typeface="Arial Rounded MT Bold" panose="020F0704030504030204" pitchFamily="34" charset="0"/>
              </a:rPr>
              <a:t>Maintenance</a:t>
            </a:r>
          </a:p>
          <a:p>
            <a:pPr algn="ctr"/>
            <a:r>
              <a:rPr lang="en-US" dirty="0"/>
              <a:t> *</a:t>
            </a:r>
            <a:r>
              <a:rPr lang="en-US" sz="1600" dirty="0"/>
              <a:t>Continuous Model    Retraining on new data</a:t>
            </a:r>
          </a:p>
          <a:p>
            <a:pPr algn="ctr"/>
            <a:r>
              <a:rPr lang="en-IN" sz="1600" dirty="0"/>
              <a:t>*Ongoing accuracy              enhancements</a:t>
            </a:r>
          </a:p>
        </p:txBody>
      </p:sp>
      <p:sp>
        <p:nvSpPr>
          <p:cNvPr id="9" name="Title 1">
            <a:extLst>
              <a:ext uri="{FF2B5EF4-FFF2-40B4-BE49-F238E27FC236}">
                <a16:creationId xmlns:a16="http://schemas.microsoft.com/office/drawing/2014/main" id="{BA94F9AF-A35C-0B30-9423-557F0610197F}"/>
              </a:ext>
            </a:extLst>
          </p:cNvPr>
          <p:cNvSpPr txBox="1">
            <a:spLocks/>
          </p:cNvSpPr>
          <p:nvPr/>
        </p:nvSpPr>
        <p:spPr>
          <a:xfrm>
            <a:off x="4220351" y="2880504"/>
            <a:ext cx="3733800" cy="984885"/>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pPr algn="ctr"/>
            <a:r>
              <a:rPr lang="en-US" sz="3200" dirty="0">
                <a:solidFill>
                  <a:schemeClr val="tx1"/>
                </a:solidFill>
                <a:latin typeface="Eras Bold ITC" panose="020B0907030504020204" pitchFamily="34" charset="0"/>
                <a:cs typeface="Times New Roman" panose="02020603050405020304" pitchFamily="18" charset="0"/>
              </a:rPr>
              <a:t>Fake News Detection SDLC</a:t>
            </a:r>
          </a:p>
        </p:txBody>
      </p:sp>
      <p:sp>
        <p:nvSpPr>
          <p:cNvPr id="11" name="object 8">
            <a:extLst>
              <a:ext uri="{FF2B5EF4-FFF2-40B4-BE49-F238E27FC236}">
                <a16:creationId xmlns:a16="http://schemas.microsoft.com/office/drawing/2014/main" id="{6BC8D314-C5A6-6C0B-2530-73A5F0FA7837}"/>
              </a:ext>
            </a:extLst>
          </p:cNvPr>
          <p:cNvSpPr txBox="1"/>
          <p:nvPr/>
        </p:nvSpPr>
        <p:spPr>
          <a:xfrm>
            <a:off x="10784585" y="214121"/>
            <a:ext cx="899160"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sz="1800" b="1" dirty="0">
                <a:latin typeface="Cambria"/>
                <a:cs typeface="Cambria"/>
              </a:rPr>
              <a:t>-</a:t>
            </a:r>
            <a:r>
              <a:rPr lang="en-US" sz="1800" b="1" dirty="0">
                <a:latin typeface="Cambria"/>
                <a:cs typeface="Cambria"/>
              </a:rPr>
              <a:t> 8</a:t>
            </a:r>
            <a:r>
              <a:rPr sz="1800" b="1" spc="70" dirty="0">
                <a:latin typeface="Cambria"/>
                <a:cs typeface="Cambria"/>
              </a:rPr>
              <a:t> </a:t>
            </a:r>
            <a:endParaRPr sz="1800" dirty="0">
              <a:latin typeface="Cambria"/>
              <a:cs typeface="Cambria"/>
            </a:endParaRPr>
          </a:p>
        </p:txBody>
      </p:sp>
    </p:spTree>
    <p:extLst>
      <p:ext uri="{BB962C8B-B14F-4D97-AF65-F5344CB8AC3E}">
        <p14:creationId xmlns:p14="http://schemas.microsoft.com/office/powerpoint/2010/main" val="1881737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8">
            <a:extLst>
              <a:ext uri="{FF2B5EF4-FFF2-40B4-BE49-F238E27FC236}">
                <a16:creationId xmlns:a16="http://schemas.microsoft.com/office/drawing/2014/main" id="{264A26C8-0F84-0BFB-2D36-0A0557381F0E}"/>
              </a:ext>
            </a:extLst>
          </p:cNvPr>
          <p:cNvSpPr txBox="1"/>
          <p:nvPr/>
        </p:nvSpPr>
        <p:spPr>
          <a:xfrm>
            <a:off x="10820400" y="230028"/>
            <a:ext cx="899160"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sz="1800" b="1" dirty="0">
                <a:latin typeface="Cambria"/>
                <a:cs typeface="Cambria"/>
              </a:rPr>
              <a:t>-</a:t>
            </a:r>
            <a:r>
              <a:rPr lang="en-IN" sz="1800" b="1" dirty="0">
                <a:latin typeface="Cambria"/>
                <a:cs typeface="Cambria"/>
              </a:rPr>
              <a:t> 9</a:t>
            </a:r>
            <a:r>
              <a:rPr lang="en-US" sz="1800" b="1" dirty="0">
                <a:latin typeface="Cambria"/>
                <a:cs typeface="Cambria"/>
              </a:rPr>
              <a:t> </a:t>
            </a:r>
            <a:r>
              <a:rPr sz="1800" b="1" spc="70" dirty="0">
                <a:latin typeface="Cambria"/>
                <a:cs typeface="Cambria"/>
              </a:rPr>
              <a:t> </a:t>
            </a:r>
            <a:endParaRPr sz="1800" dirty="0">
              <a:latin typeface="Cambria"/>
              <a:cs typeface="Cambria"/>
            </a:endParaRPr>
          </a:p>
        </p:txBody>
      </p:sp>
      <p:pic>
        <p:nvPicPr>
          <p:cNvPr id="4" name="Picture 3">
            <a:extLst>
              <a:ext uri="{FF2B5EF4-FFF2-40B4-BE49-F238E27FC236}">
                <a16:creationId xmlns:a16="http://schemas.microsoft.com/office/drawing/2014/main" id="{F46D2503-3AD9-F593-1529-DC9B11ADD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27182"/>
            <a:ext cx="9787615" cy="6403636"/>
          </a:xfrm>
          <a:prstGeom prst="rect">
            <a:avLst/>
          </a:prstGeom>
        </p:spPr>
      </p:pic>
    </p:spTree>
    <p:extLst>
      <p:ext uri="{BB962C8B-B14F-4D97-AF65-F5344CB8AC3E}">
        <p14:creationId xmlns:p14="http://schemas.microsoft.com/office/powerpoint/2010/main" val="2750832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DCFE0-E70B-6569-D608-258DF3A0CFAA}"/>
              </a:ext>
            </a:extLst>
          </p:cNvPr>
          <p:cNvSpPr txBox="1">
            <a:spLocks/>
          </p:cNvSpPr>
          <p:nvPr/>
        </p:nvSpPr>
        <p:spPr>
          <a:xfrm>
            <a:off x="762000" y="685800"/>
            <a:ext cx="37338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3200" dirty="0">
                <a:solidFill>
                  <a:schemeClr val="tx1"/>
                </a:solidFill>
                <a:latin typeface="Eras Bold ITC" panose="020B0907030504020204" pitchFamily="34" charset="0"/>
                <a:cs typeface="Times New Roman" panose="02020603050405020304" pitchFamily="18" charset="0"/>
              </a:rPr>
              <a:t>Data Collection</a:t>
            </a:r>
          </a:p>
        </p:txBody>
      </p:sp>
      <p:sp>
        <p:nvSpPr>
          <p:cNvPr id="3" name="object 4">
            <a:extLst>
              <a:ext uri="{FF2B5EF4-FFF2-40B4-BE49-F238E27FC236}">
                <a16:creationId xmlns:a16="http://schemas.microsoft.com/office/drawing/2014/main" id="{33DB4944-8A6F-6481-8C54-736B858EA67C}"/>
              </a:ext>
            </a:extLst>
          </p:cNvPr>
          <p:cNvSpPr txBox="1"/>
          <p:nvPr/>
        </p:nvSpPr>
        <p:spPr>
          <a:xfrm>
            <a:off x="798871" y="1676400"/>
            <a:ext cx="9484995" cy="4876335"/>
          </a:xfrm>
          <a:prstGeom prst="rect">
            <a:avLst/>
          </a:prstGeom>
        </p:spPr>
        <p:txBody>
          <a:bodyPr vert="horz" wrap="square" lIns="0" tIns="13335" rIns="0" bIns="0" rtlCol="0">
            <a:spAutoFit/>
          </a:bodyPr>
          <a:lstStyle/>
          <a:p>
            <a:r>
              <a:rPr lang="en-US" sz="2000" dirty="0">
                <a:latin typeface="Times New Roman" panose="02020603050405020304" pitchFamily="18" charset="0"/>
                <a:cs typeface="Times New Roman" panose="02020603050405020304" pitchFamily="18" charset="0"/>
              </a:rPr>
              <a:t>Collect a </a:t>
            </a:r>
            <a:r>
              <a:rPr lang="en-US" sz="2000" b="1" dirty="0">
                <a:latin typeface="Times New Roman" panose="02020603050405020304" pitchFamily="18" charset="0"/>
                <a:cs typeface="Times New Roman" panose="02020603050405020304" pitchFamily="18" charset="0"/>
              </a:rPr>
              <a:t>reliable dataset of fake and real news</a:t>
            </a:r>
            <a:r>
              <a:rPr lang="en-US" sz="2000" dirty="0">
                <a:latin typeface="Times New Roman" panose="02020603050405020304" pitchFamily="18" charset="0"/>
                <a:cs typeface="Times New Roman" panose="02020603050405020304" pitchFamily="18" charset="0"/>
              </a:rPr>
              <a:t> to train and evaluate machine learning models . Ensure data is </a:t>
            </a:r>
            <a:r>
              <a:rPr lang="en-US" sz="2000" b="1" dirty="0">
                <a:latin typeface="Times New Roman" panose="02020603050405020304" pitchFamily="18" charset="0"/>
                <a:cs typeface="Times New Roman" panose="02020603050405020304" pitchFamily="18" charset="0"/>
              </a:rPr>
              <a:t>representative of real-world scenarios</a:t>
            </a:r>
            <a:r>
              <a:rPr lang="en-US" sz="2000" dirty="0">
                <a:latin typeface="Times New Roman" panose="02020603050405020304" pitchFamily="18" charset="0"/>
                <a:cs typeface="Times New Roman" panose="02020603050405020304" pitchFamily="18" charset="0"/>
              </a:rPr>
              <a:t>, including short social media posts and full-length news articles.</a:t>
            </a:r>
          </a:p>
          <a:p>
            <a:endParaRPr lang="en-US" sz="2000" dirty="0">
              <a:latin typeface="Times New Roman" panose="02020603050405020304" pitchFamily="18" charset="0"/>
              <a:cs typeface="Times New Roman" panose="02020603050405020304" pitchFamily="18" charset="0"/>
            </a:endParaRPr>
          </a:p>
          <a:p>
            <a:r>
              <a:rPr lang="en-IN" b="1" u="sng" dirty="0">
                <a:latin typeface="Times New Roman" panose="02020603050405020304" pitchFamily="18" charset="0"/>
                <a:cs typeface="Times New Roman" panose="02020603050405020304" pitchFamily="18" charset="0"/>
              </a:rPr>
              <a:t>Sources of Data</a:t>
            </a:r>
          </a:p>
          <a:p>
            <a:pPr>
              <a:buFont typeface="+mj-lt"/>
              <a:buAutoNum type="arabicPeriod"/>
            </a:pPr>
            <a:r>
              <a:rPr lang="en-IN" b="1" dirty="0">
                <a:latin typeface="Times New Roman" panose="02020603050405020304" pitchFamily="18" charset="0"/>
                <a:cs typeface="Times New Roman" panose="02020603050405020304" pitchFamily="18" charset="0"/>
              </a:rPr>
              <a:t>Social Media Platforms</a:t>
            </a:r>
            <a:endParaRPr lang="en-IN"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IN" dirty="0">
                <a:latin typeface="Times New Roman" panose="02020603050405020304" pitchFamily="18" charset="0"/>
                <a:cs typeface="Times New Roman" panose="02020603050405020304" pitchFamily="18" charset="0"/>
              </a:rPr>
              <a:t>Twitter: tweets collected using keywords or hashtags.</a:t>
            </a:r>
          </a:p>
          <a:p>
            <a:pPr marL="742950" lvl="1" indent="-285750">
              <a:buFont typeface="+mj-lt"/>
              <a:buAutoNum type="arabicPeriod"/>
            </a:pPr>
            <a:r>
              <a:rPr lang="en-IN" dirty="0">
                <a:latin typeface="Times New Roman" panose="02020603050405020304" pitchFamily="18" charset="0"/>
                <a:cs typeface="Times New Roman" panose="02020603050405020304" pitchFamily="18" charset="0"/>
              </a:rPr>
              <a:t>Facebook or Reddit posts (if available publicly).</a:t>
            </a:r>
          </a:p>
          <a:p>
            <a:pPr>
              <a:buFont typeface="+mj-lt"/>
              <a:buAutoNum type="arabicPeriod"/>
            </a:pPr>
            <a:r>
              <a:rPr lang="en-IN" b="1" dirty="0">
                <a:latin typeface="Times New Roman" panose="02020603050405020304" pitchFamily="18" charset="0"/>
                <a:cs typeface="Times New Roman" panose="02020603050405020304" pitchFamily="18" charset="0"/>
              </a:rPr>
              <a:t>Public Datasets</a:t>
            </a:r>
            <a:endParaRPr lang="en-IN"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IN" b="1" dirty="0">
                <a:latin typeface="Times New Roman" panose="02020603050405020304" pitchFamily="18" charset="0"/>
                <a:cs typeface="Times New Roman" panose="02020603050405020304" pitchFamily="18" charset="0"/>
              </a:rPr>
              <a:t>ISOT Fake News Dataset</a:t>
            </a:r>
            <a:r>
              <a:rPr lang="en-IN" dirty="0">
                <a:latin typeface="Times New Roman" panose="02020603050405020304" pitchFamily="18" charset="0"/>
                <a:cs typeface="Times New Roman" panose="02020603050405020304" pitchFamily="18" charset="0"/>
              </a:rPr>
              <a:t> (Fake.csv &amp; True.csv)</a:t>
            </a:r>
          </a:p>
          <a:p>
            <a:pPr marL="1143000" lvl="2" indent="-228600">
              <a:buFont typeface="+mj-lt"/>
              <a:buAutoNum type="arabicPeriod"/>
            </a:pPr>
            <a:r>
              <a:rPr lang="en-IN" dirty="0">
                <a:latin typeface="Times New Roman" panose="02020603050405020304" pitchFamily="18" charset="0"/>
                <a:cs typeface="Times New Roman" panose="02020603050405020304" pitchFamily="18" charset="0"/>
              </a:rPr>
              <a:t>Fake news articles vs real news from online sources.</a:t>
            </a:r>
          </a:p>
          <a:p>
            <a:pPr marL="742950" lvl="1" indent="-285750">
              <a:buFont typeface="+mj-lt"/>
              <a:buAutoNum type="arabicPeriod"/>
            </a:pPr>
            <a:r>
              <a:rPr lang="en-IN" b="1" dirty="0">
                <a:latin typeface="Times New Roman" panose="02020603050405020304" pitchFamily="18" charset="0"/>
                <a:cs typeface="Times New Roman" panose="02020603050405020304" pitchFamily="18" charset="0"/>
              </a:rPr>
              <a:t>Kaggle Fake News Dataset</a:t>
            </a:r>
            <a:endParaRPr lang="en-IN" dirty="0">
              <a:latin typeface="Times New Roman" panose="02020603050405020304" pitchFamily="18" charset="0"/>
              <a:cs typeface="Times New Roman" panose="02020603050405020304" pitchFamily="18" charset="0"/>
            </a:endParaRPr>
          </a:p>
          <a:p>
            <a:pPr marL="1143000" lvl="2" indent="-228600">
              <a:buFont typeface="+mj-lt"/>
              <a:buAutoNum type="arabicPeriod"/>
            </a:pPr>
            <a:r>
              <a:rPr lang="en-IN" dirty="0">
                <a:latin typeface="Times New Roman" panose="02020603050405020304" pitchFamily="18" charset="0"/>
                <a:cs typeface="Times New Roman" panose="02020603050405020304" pitchFamily="18" charset="0"/>
              </a:rPr>
              <a:t>Includes title, text, and labels (fake/real).</a:t>
            </a:r>
          </a:p>
          <a:p>
            <a:pPr>
              <a:buFont typeface="+mj-lt"/>
              <a:buAutoNum type="arabicPeriod"/>
            </a:pPr>
            <a:r>
              <a:rPr lang="en-IN" b="1" dirty="0">
                <a:latin typeface="Times New Roman" panose="02020603050405020304" pitchFamily="18" charset="0"/>
                <a:cs typeface="Times New Roman" panose="02020603050405020304" pitchFamily="18" charset="0"/>
              </a:rPr>
              <a:t>News Websites</a:t>
            </a:r>
            <a:endParaRPr lang="en-IN"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IN" dirty="0">
                <a:latin typeface="Times New Roman" panose="02020603050405020304" pitchFamily="18" charset="0"/>
                <a:cs typeface="Times New Roman" panose="02020603050405020304" pitchFamily="18" charset="0"/>
              </a:rPr>
              <a:t>Scraping from verified sources (BBC, Reuters) for real news.</a:t>
            </a:r>
          </a:p>
          <a:p>
            <a:pPr marL="742950" lvl="1" indent="-285750">
              <a:buFont typeface="+mj-lt"/>
              <a:buAutoNum type="arabicPeriod"/>
            </a:pPr>
            <a:r>
              <a:rPr lang="en-IN" dirty="0">
                <a:latin typeface="Times New Roman" panose="02020603050405020304" pitchFamily="18" charset="0"/>
                <a:cs typeface="Times New Roman" panose="02020603050405020304" pitchFamily="18" charset="0"/>
              </a:rPr>
              <a:t>Scraping clickbait or known fake news websites for fake news.</a:t>
            </a:r>
          </a:p>
          <a:p>
            <a:endParaRPr lang="en-US" sz="2000" dirty="0">
              <a:latin typeface="Times New Roman" panose="02020603050405020304" pitchFamily="18" charset="0"/>
              <a:cs typeface="Times New Roman" panose="02020603050405020304" pitchFamily="18" charset="0"/>
            </a:endParaRPr>
          </a:p>
        </p:txBody>
      </p:sp>
      <p:sp>
        <p:nvSpPr>
          <p:cNvPr id="4" name="object 8">
            <a:extLst>
              <a:ext uri="{FF2B5EF4-FFF2-40B4-BE49-F238E27FC236}">
                <a16:creationId xmlns:a16="http://schemas.microsoft.com/office/drawing/2014/main" id="{8E9B60A1-FD6B-7085-1484-3A7A6B2AD1CE}"/>
              </a:ext>
            </a:extLst>
          </p:cNvPr>
          <p:cNvSpPr txBox="1"/>
          <p:nvPr/>
        </p:nvSpPr>
        <p:spPr>
          <a:xfrm>
            <a:off x="10784584" y="214121"/>
            <a:ext cx="1026415" cy="289823"/>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sz="1800" b="1" dirty="0">
                <a:latin typeface="Cambria"/>
                <a:cs typeface="Cambria"/>
              </a:rPr>
              <a:t>-</a:t>
            </a:r>
            <a:r>
              <a:rPr lang="en-US" sz="1800" b="1" dirty="0">
                <a:latin typeface="Cambria"/>
                <a:cs typeface="Cambria"/>
              </a:rPr>
              <a:t> 11</a:t>
            </a:r>
            <a:r>
              <a:rPr sz="1800" b="1" spc="70" dirty="0">
                <a:latin typeface="Cambria"/>
                <a:cs typeface="Cambria"/>
              </a:rPr>
              <a:t> </a:t>
            </a:r>
            <a:endParaRPr sz="1800" dirty="0">
              <a:latin typeface="Cambria"/>
              <a:cs typeface="Cambria"/>
            </a:endParaRPr>
          </a:p>
        </p:txBody>
      </p:sp>
    </p:spTree>
    <p:extLst>
      <p:ext uri="{BB962C8B-B14F-4D97-AF65-F5344CB8AC3E}">
        <p14:creationId xmlns:p14="http://schemas.microsoft.com/office/powerpoint/2010/main" val="1661153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227B9-DBA5-1113-1332-4F5CD0BD37E7}"/>
              </a:ext>
            </a:extLst>
          </p:cNvPr>
          <p:cNvSpPr txBox="1">
            <a:spLocks/>
          </p:cNvSpPr>
          <p:nvPr/>
        </p:nvSpPr>
        <p:spPr>
          <a:xfrm>
            <a:off x="762000" y="685800"/>
            <a:ext cx="64008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3200" dirty="0">
                <a:solidFill>
                  <a:schemeClr val="tx1"/>
                </a:solidFill>
                <a:latin typeface="Eras Bold ITC" panose="020B0907030504020204" pitchFamily="34" charset="0"/>
                <a:cs typeface="Times New Roman" panose="02020603050405020304" pitchFamily="18" charset="0"/>
              </a:rPr>
              <a:t>Data Cleaning &amp; Preprocessing</a:t>
            </a:r>
          </a:p>
        </p:txBody>
      </p:sp>
      <p:sp>
        <p:nvSpPr>
          <p:cNvPr id="3" name="object 4">
            <a:extLst>
              <a:ext uri="{FF2B5EF4-FFF2-40B4-BE49-F238E27FC236}">
                <a16:creationId xmlns:a16="http://schemas.microsoft.com/office/drawing/2014/main" id="{506AE54E-D985-1E07-C2C9-7C1F35148DF8}"/>
              </a:ext>
            </a:extLst>
          </p:cNvPr>
          <p:cNvSpPr txBox="1"/>
          <p:nvPr/>
        </p:nvSpPr>
        <p:spPr>
          <a:xfrm>
            <a:off x="990600" y="1524000"/>
            <a:ext cx="9484995" cy="1244571"/>
          </a:xfrm>
          <a:prstGeom prst="rect">
            <a:avLst/>
          </a:prstGeom>
        </p:spPr>
        <p:txBody>
          <a:bodyPr vert="horz" wrap="square" lIns="0" tIns="13335" rIns="0" bIns="0" rtlCol="0">
            <a:spAutoFit/>
          </a:bodyPr>
          <a:lstStyle/>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Remove unwanted characters, lowercasing</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Tokenization, stop-word removal, lemmatization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Handling missing values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Label encoding: Fake = 0, Real = 1</a:t>
            </a:r>
          </a:p>
        </p:txBody>
      </p:sp>
      <p:pic>
        <p:nvPicPr>
          <p:cNvPr id="5" name="Picture 4" descr="A screenshot of a computer&#10;&#10;AI-generated content may be incorrect.">
            <a:extLst>
              <a:ext uri="{FF2B5EF4-FFF2-40B4-BE49-F238E27FC236}">
                <a16:creationId xmlns:a16="http://schemas.microsoft.com/office/drawing/2014/main" id="{CE665595-715D-8894-BDE9-ED0300424C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3670329"/>
            <a:ext cx="5511452" cy="2514600"/>
          </a:xfrm>
          <a:prstGeom prst="rect">
            <a:avLst/>
          </a:prstGeom>
          <a:ln>
            <a:noFill/>
          </a:ln>
          <a:effectLst>
            <a:outerShdw blurRad="292100" dist="139700" dir="2700000" algn="tl" rotWithShape="0">
              <a:srgbClr val="333333">
                <a:alpha val="65000"/>
              </a:srgbClr>
            </a:outerShdw>
          </a:effectLst>
        </p:spPr>
      </p:pic>
      <p:pic>
        <p:nvPicPr>
          <p:cNvPr id="7" name="Picture 6" descr="A screenshot of a computer&#10;&#10;AI-generated content may be incorrect.">
            <a:extLst>
              <a:ext uri="{FF2B5EF4-FFF2-40B4-BE49-F238E27FC236}">
                <a16:creationId xmlns:a16="http://schemas.microsoft.com/office/drawing/2014/main" id="{40456EFC-D4A8-4D6E-3484-F7E22E35E2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4600" y="3670329"/>
            <a:ext cx="5539423" cy="2401859"/>
          </a:xfrm>
          <a:prstGeom prst="rect">
            <a:avLst/>
          </a:prstGeom>
          <a:ln>
            <a:noFill/>
          </a:ln>
          <a:effectLst>
            <a:outerShdw blurRad="292100" dist="139700" dir="2700000" algn="tl" rotWithShape="0">
              <a:srgbClr val="333333">
                <a:alpha val="65000"/>
              </a:srgbClr>
            </a:outerShdw>
          </a:effectLst>
        </p:spPr>
      </p:pic>
      <p:sp>
        <p:nvSpPr>
          <p:cNvPr id="8" name="object 7">
            <a:extLst>
              <a:ext uri="{FF2B5EF4-FFF2-40B4-BE49-F238E27FC236}">
                <a16:creationId xmlns:a16="http://schemas.microsoft.com/office/drawing/2014/main" id="{1EFBEFDD-D4D5-2619-A524-FF78BC404A8C}"/>
              </a:ext>
            </a:extLst>
          </p:cNvPr>
          <p:cNvSpPr txBox="1"/>
          <p:nvPr/>
        </p:nvSpPr>
        <p:spPr>
          <a:xfrm>
            <a:off x="1752600" y="3114328"/>
            <a:ext cx="3162300" cy="381515"/>
          </a:xfrm>
          <a:prstGeom prst="rect">
            <a:avLst/>
          </a:prstGeom>
        </p:spPr>
        <p:txBody>
          <a:bodyPr vert="horz" wrap="square" lIns="0" tIns="12065" rIns="0" bIns="0" rtlCol="0">
            <a:spAutoFit/>
          </a:bodyPr>
          <a:lstStyle/>
          <a:p>
            <a:pPr marL="12700">
              <a:lnSpc>
                <a:spcPct val="100000"/>
              </a:lnSpc>
              <a:spcBef>
                <a:spcPts val="95"/>
              </a:spcBef>
            </a:pPr>
            <a:r>
              <a:rPr lang="en-IN" sz="2400" b="1" dirty="0">
                <a:solidFill>
                  <a:srgbClr val="9E3611"/>
                </a:solidFill>
                <a:latin typeface="Cambria"/>
                <a:cs typeface="Cambria"/>
              </a:rPr>
              <a:t>Before Data Cleaning</a:t>
            </a:r>
            <a:endParaRPr sz="2400" dirty="0">
              <a:latin typeface="Cambria"/>
              <a:cs typeface="Cambria"/>
            </a:endParaRPr>
          </a:p>
        </p:txBody>
      </p:sp>
      <p:sp>
        <p:nvSpPr>
          <p:cNvPr id="9" name="object 7">
            <a:extLst>
              <a:ext uri="{FF2B5EF4-FFF2-40B4-BE49-F238E27FC236}">
                <a16:creationId xmlns:a16="http://schemas.microsoft.com/office/drawing/2014/main" id="{4E085983-72A9-2FAD-9ACE-EAA8FEE56485}"/>
              </a:ext>
            </a:extLst>
          </p:cNvPr>
          <p:cNvSpPr txBox="1"/>
          <p:nvPr/>
        </p:nvSpPr>
        <p:spPr>
          <a:xfrm>
            <a:off x="7696200" y="3136889"/>
            <a:ext cx="3162300" cy="381515"/>
          </a:xfrm>
          <a:prstGeom prst="rect">
            <a:avLst/>
          </a:prstGeom>
        </p:spPr>
        <p:txBody>
          <a:bodyPr vert="horz" wrap="square" lIns="0" tIns="12065" rIns="0" bIns="0" rtlCol="0">
            <a:spAutoFit/>
          </a:bodyPr>
          <a:lstStyle/>
          <a:p>
            <a:pPr marL="12700">
              <a:lnSpc>
                <a:spcPct val="100000"/>
              </a:lnSpc>
              <a:spcBef>
                <a:spcPts val="95"/>
              </a:spcBef>
            </a:pPr>
            <a:r>
              <a:rPr lang="en-IN" sz="2400" b="1" dirty="0">
                <a:solidFill>
                  <a:srgbClr val="9E3611"/>
                </a:solidFill>
                <a:latin typeface="Cambria"/>
                <a:cs typeface="Cambria"/>
              </a:rPr>
              <a:t>After Data Cleaning</a:t>
            </a:r>
            <a:endParaRPr sz="2400" dirty="0">
              <a:latin typeface="Cambria"/>
              <a:cs typeface="Cambria"/>
            </a:endParaRPr>
          </a:p>
        </p:txBody>
      </p:sp>
      <p:sp>
        <p:nvSpPr>
          <p:cNvPr id="10" name="object 8">
            <a:extLst>
              <a:ext uri="{FF2B5EF4-FFF2-40B4-BE49-F238E27FC236}">
                <a16:creationId xmlns:a16="http://schemas.microsoft.com/office/drawing/2014/main" id="{F9FA801B-0E3B-4B29-1AB4-3B18DEA1B199}"/>
              </a:ext>
            </a:extLst>
          </p:cNvPr>
          <p:cNvSpPr txBox="1"/>
          <p:nvPr/>
        </p:nvSpPr>
        <p:spPr>
          <a:xfrm>
            <a:off x="10820399" y="230028"/>
            <a:ext cx="1043623" cy="289823"/>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sz="1800" b="1" dirty="0">
                <a:latin typeface="Cambria"/>
                <a:cs typeface="Cambria"/>
              </a:rPr>
              <a:t>-</a:t>
            </a:r>
            <a:r>
              <a:rPr lang="en-IN" sz="1800" b="1" dirty="0">
                <a:latin typeface="Cambria"/>
                <a:cs typeface="Cambria"/>
              </a:rPr>
              <a:t> 12</a:t>
            </a:r>
            <a:r>
              <a:rPr lang="en-US" sz="1800" b="1" dirty="0">
                <a:latin typeface="Cambria"/>
                <a:cs typeface="Cambria"/>
              </a:rPr>
              <a:t> </a:t>
            </a:r>
            <a:r>
              <a:rPr sz="1800" b="1" spc="70" dirty="0">
                <a:latin typeface="Cambria"/>
                <a:cs typeface="Cambria"/>
              </a:rPr>
              <a:t> </a:t>
            </a:r>
            <a:endParaRPr sz="1800" dirty="0">
              <a:latin typeface="Cambria"/>
              <a:cs typeface="Cambria"/>
            </a:endParaRPr>
          </a:p>
        </p:txBody>
      </p:sp>
    </p:spTree>
    <p:extLst>
      <p:ext uri="{BB962C8B-B14F-4D97-AF65-F5344CB8AC3E}">
        <p14:creationId xmlns:p14="http://schemas.microsoft.com/office/powerpoint/2010/main" val="714925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227B9-DBA5-1113-1332-4F5CD0BD37E7}"/>
              </a:ext>
            </a:extLst>
          </p:cNvPr>
          <p:cNvSpPr txBox="1">
            <a:spLocks/>
          </p:cNvSpPr>
          <p:nvPr/>
        </p:nvSpPr>
        <p:spPr>
          <a:xfrm>
            <a:off x="762000" y="685800"/>
            <a:ext cx="64008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3200" dirty="0">
                <a:solidFill>
                  <a:schemeClr val="tx1"/>
                </a:solidFill>
                <a:latin typeface="Eras Bold ITC" panose="020B0907030504020204" pitchFamily="34" charset="0"/>
                <a:cs typeface="Times New Roman" panose="02020603050405020304" pitchFamily="18" charset="0"/>
              </a:rPr>
              <a:t>Dataset Training &amp; Testing</a:t>
            </a:r>
          </a:p>
        </p:txBody>
      </p:sp>
      <p:sp>
        <p:nvSpPr>
          <p:cNvPr id="3" name="object 4">
            <a:extLst>
              <a:ext uri="{FF2B5EF4-FFF2-40B4-BE49-F238E27FC236}">
                <a16:creationId xmlns:a16="http://schemas.microsoft.com/office/drawing/2014/main" id="{506AE54E-D985-1E07-C2C9-7C1F35148DF8}"/>
              </a:ext>
            </a:extLst>
          </p:cNvPr>
          <p:cNvSpPr txBox="1"/>
          <p:nvPr/>
        </p:nvSpPr>
        <p:spPr>
          <a:xfrm>
            <a:off x="990600" y="1524000"/>
            <a:ext cx="9484995" cy="1244571"/>
          </a:xfrm>
          <a:prstGeom prst="rect">
            <a:avLst/>
          </a:prstGeom>
        </p:spPr>
        <p:txBody>
          <a:bodyPr vert="horz" wrap="square" lIns="0" tIns="13335" rIns="0" bIns="0" rtlCol="0">
            <a:spAutoFit/>
          </a:bodyPr>
          <a:lstStyle/>
          <a:p>
            <a:pPr>
              <a:buFont typeface="Arial" panose="020B0604020202020204" pitchFamily="34" charset="0"/>
              <a:buChar char="•"/>
            </a:pPr>
            <a:r>
              <a:rPr lang="en-US" sz="2000" dirty="0"/>
              <a:t> Trained the model on Fake &amp; Real News Dataset in Google </a:t>
            </a:r>
            <a:r>
              <a:rPr lang="en-US" sz="2000" dirty="0" err="1"/>
              <a:t>Colab</a:t>
            </a:r>
            <a:r>
              <a:rPr lang="en-US" sz="2000" dirty="0"/>
              <a:t>.</a:t>
            </a:r>
          </a:p>
          <a:p>
            <a:pPr>
              <a:buFont typeface="Arial" panose="020B0604020202020204" pitchFamily="34" charset="0"/>
              <a:buChar char="•"/>
            </a:pPr>
            <a:r>
              <a:rPr lang="en-US" sz="2000" dirty="0"/>
              <a:t> Enter any news text or passage to test.</a:t>
            </a:r>
          </a:p>
          <a:p>
            <a:pPr>
              <a:buFont typeface="Arial" panose="020B0604020202020204" pitchFamily="34" charset="0"/>
              <a:buChar char="•"/>
            </a:pPr>
            <a:r>
              <a:rPr lang="en-US" sz="2000" dirty="0"/>
              <a:t> The model predicts whether the news is Fake or Real instantly.</a:t>
            </a:r>
          </a:p>
          <a:p>
            <a:pPr>
              <a:buFont typeface="Arial" panose="020B0604020202020204" pitchFamily="34" charset="0"/>
              <a:buChar char="•"/>
            </a:pPr>
            <a:r>
              <a:rPr lang="en-US" sz="2000" dirty="0"/>
              <a:t> This Screenshot shows real-time testing output with prediction results.</a:t>
            </a:r>
          </a:p>
        </p:txBody>
      </p:sp>
      <p:pic>
        <p:nvPicPr>
          <p:cNvPr id="12" name="Picture 11" descr="A screenshot of a computer&#10;&#10;AI-generated content may be incorrect.">
            <a:extLst>
              <a:ext uri="{FF2B5EF4-FFF2-40B4-BE49-F238E27FC236}">
                <a16:creationId xmlns:a16="http://schemas.microsoft.com/office/drawing/2014/main" id="{17282B95-27DB-0387-663F-E072DC9D0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62" y="2971800"/>
            <a:ext cx="5844223" cy="2670993"/>
          </a:xfrm>
          <a:prstGeom prst="rect">
            <a:avLst/>
          </a:prstGeom>
          <a:ln>
            <a:noFill/>
          </a:ln>
          <a:effectLst>
            <a:outerShdw blurRad="292100" dist="139700" dir="2700000" algn="tl" rotWithShape="0">
              <a:srgbClr val="333333">
                <a:alpha val="65000"/>
              </a:srgbClr>
            </a:outerShdw>
          </a:effectLst>
        </p:spPr>
      </p:pic>
      <p:pic>
        <p:nvPicPr>
          <p:cNvPr id="16" name="Picture 15" descr="A screenshot of a computer&#10;&#10;AI-generated content may be incorrect.">
            <a:extLst>
              <a:ext uri="{FF2B5EF4-FFF2-40B4-BE49-F238E27FC236}">
                <a16:creationId xmlns:a16="http://schemas.microsoft.com/office/drawing/2014/main" id="{4D6C7865-7B25-3F39-439D-3D2114E167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4929" y="3977060"/>
            <a:ext cx="5897736" cy="2713880"/>
          </a:xfrm>
          <a:prstGeom prst="rect">
            <a:avLst/>
          </a:prstGeom>
          <a:ln>
            <a:noFill/>
          </a:ln>
          <a:effectLst>
            <a:outerShdw blurRad="292100" dist="139700" dir="2700000" algn="tl" rotWithShape="0">
              <a:srgbClr val="333333">
                <a:alpha val="65000"/>
              </a:srgbClr>
            </a:outerShdw>
          </a:effectLst>
        </p:spPr>
      </p:pic>
      <p:sp>
        <p:nvSpPr>
          <p:cNvPr id="17" name="object 8">
            <a:extLst>
              <a:ext uri="{FF2B5EF4-FFF2-40B4-BE49-F238E27FC236}">
                <a16:creationId xmlns:a16="http://schemas.microsoft.com/office/drawing/2014/main" id="{09F6C121-DFFB-99E6-438A-5A59296C7B07}"/>
              </a:ext>
            </a:extLst>
          </p:cNvPr>
          <p:cNvSpPr txBox="1"/>
          <p:nvPr/>
        </p:nvSpPr>
        <p:spPr>
          <a:xfrm>
            <a:off x="10820400" y="230028"/>
            <a:ext cx="1143000" cy="289823"/>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sz="1800" b="1" dirty="0">
                <a:latin typeface="Cambria"/>
                <a:cs typeface="Cambria"/>
              </a:rPr>
              <a:t>-</a:t>
            </a:r>
            <a:r>
              <a:rPr lang="en-IN" sz="1800" b="1" dirty="0">
                <a:latin typeface="Cambria"/>
                <a:cs typeface="Cambria"/>
              </a:rPr>
              <a:t> 13</a:t>
            </a:r>
            <a:r>
              <a:rPr lang="en-US" sz="1800" b="1" dirty="0">
                <a:latin typeface="Cambria"/>
                <a:cs typeface="Cambria"/>
              </a:rPr>
              <a:t> </a:t>
            </a:r>
            <a:r>
              <a:rPr sz="1800" b="1" spc="70" dirty="0">
                <a:latin typeface="Cambria"/>
                <a:cs typeface="Cambria"/>
              </a:rPr>
              <a:t> </a:t>
            </a:r>
            <a:endParaRPr sz="1800" dirty="0">
              <a:latin typeface="Cambria"/>
              <a:cs typeface="Cambria"/>
            </a:endParaRPr>
          </a:p>
        </p:txBody>
      </p:sp>
    </p:spTree>
    <p:extLst>
      <p:ext uri="{BB962C8B-B14F-4D97-AF65-F5344CB8AC3E}">
        <p14:creationId xmlns:p14="http://schemas.microsoft.com/office/powerpoint/2010/main" val="3846418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F89D0-A475-B940-1949-8B27FFBCF67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123C823-EB71-8831-C0CA-BB42608B6142}"/>
              </a:ext>
            </a:extLst>
          </p:cNvPr>
          <p:cNvSpPr txBox="1">
            <a:spLocks/>
          </p:cNvSpPr>
          <p:nvPr/>
        </p:nvSpPr>
        <p:spPr>
          <a:xfrm>
            <a:off x="533400" y="294824"/>
            <a:ext cx="60960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3200" dirty="0">
                <a:solidFill>
                  <a:schemeClr val="tx1"/>
                </a:solidFill>
                <a:latin typeface="Eras Bold ITC" panose="020B0907030504020204" pitchFamily="34" charset="0"/>
                <a:cs typeface="Times New Roman" panose="02020603050405020304" pitchFamily="18" charset="0"/>
              </a:rPr>
              <a:t>Our Model (LSTM + CNN)</a:t>
            </a:r>
          </a:p>
        </p:txBody>
      </p:sp>
      <p:sp>
        <p:nvSpPr>
          <p:cNvPr id="2" name="object 4">
            <a:extLst>
              <a:ext uri="{FF2B5EF4-FFF2-40B4-BE49-F238E27FC236}">
                <a16:creationId xmlns:a16="http://schemas.microsoft.com/office/drawing/2014/main" id="{685FDE07-06E6-3442-6CCA-4B9511CB0AC3}"/>
              </a:ext>
            </a:extLst>
          </p:cNvPr>
          <p:cNvSpPr txBox="1"/>
          <p:nvPr/>
        </p:nvSpPr>
        <p:spPr>
          <a:xfrm>
            <a:off x="990600" y="1524000"/>
            <a:ext cx="9484995" cy="4076116"/>
          </a:xfrm>
          <a:prstGeom prst="rect">
            <a:avLst/>
          </a:prstGeom>
        </p:spPr>
        <p:txBody>
          <a:bodyPr vert="horz" wrap="square" lIns="0" tIns="13335" rIns="0" bIns="0" rtlCol="0">
            <a:spAutoFit/>
          </a:bodyPr>
          <a:lstStyle/>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36C6B882-A54B-516E-47E7-246BEAA35FD1}"/>
              </a:ext>
            </a:extLst>
          </p:cNvPr>
          <p:cNvSpPr>
            <a:spLocks noChangeArrowheads="1"/>
          </p:cNvSpPr>
          <p:nvPr/>
        </p:nvSpPr>
        <p:spPr bwMode="auto">
          <a:xfrm>
            <a:off x="1219200" y="984206"/>
            <a:ext cx="9278502"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implemented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LSTM + CNN model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fake news detection.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extracts important words and key phrases from news text.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LSTM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captures the sequence and overall context of the news.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Combining both helps in better understanding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is said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it is said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model gave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best balance of accuracy and efficiency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among all tested models.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accuracy achieved: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98.4%</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Hence,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LSTM + CNN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was selected as the final deployed model for our project.</a:t>
            </a:r>
          </a:p>
        </p:txBody>
      </p:sp>
    </p:spTree>
    <p:extLst>
      <p:ext uri="{BB962C8B-B14F-4D97-AF65-F5344CB8AC3E}">
        <p14:creationId xmlns:p14="http://schemas.microsoft.com/office/powerpoint/2010/main" val="1941940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2D409C-15A1-EAE3-3CF1-2FEF44D339D9}"/>
              </a:ext>
            </a:extLst>
          </p:cNvPr>
          <p:cNvSpPr txBox="1">
            <a:spLocks/>
          </p:cNvSpPr>
          <p:nvPr/>
        </p:nvSpPr>
        <p:spPr>
          <a:xfrm>
            <a:off x="533400" y="294824"/>
            <a:ext cx="60960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3200" dirty="0">
                <a:solidFill>
                  <a:schemeClr val="tx1"/>
                </a:solidFill>
                <a:latin typeface="Eras Bold ITC" panose="020B0907030504020204" pitchFamily="34" charset="0"/>
                <a:cs typeface="Times New Roman" panose="02020603050405020304" pitchFamily="18" charset="0"/>
              </a:rPr>
              <a:t>Our Backend Sample Code:</a:t>
            </a:r>
          </a:p>
        </p:txBody>
      </p:sp>
      <p:pic>
        <p:nvPicPr>
          <p:cNvPr id="11" name="Picture 10">
            <a:extLst>
              <a:ext uri="{FF2B5EF4-FFF2-40B4-BE49-F238E27FC236}">
                <a16:creationId xmlns:a16="http://schemas.microsoft.com/office/drawing/2014/main" id="{A5520BAF-77B6-25A9-EF5F-1489E9E23E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900" y="990600"/>
            <a:ext cx="10744200" cy="571345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079517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F89D0-A475-B940-1949-8B27FFBCF67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123C823-EB71-8831-C0CA-BB42608B6142}"/>
              </a:ext>
            </a:extLst>
          </p:cNvPr>
          <p:cNvSpPr txBox="1">
            <a:spLocks/>
          </p:cNvSpPr>
          <p:nvPr/>
        </p:nvSpPr>
        <p:spPr>
          <a:xfrm>
            <a:off x="533400" y="294824"/>
            <a:ext cx="60960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3200" dirty="0">
                <a:solidFill>
                  <a:schemeClr val="tx1"/>
                </a:solidFill>
                <a:latin typeface="Eras Bold ITC" panose="020B0907030504020204" pitchFamily="34" charset="0"/>
                <a:cs typeface="Times New Roman" panose="02020603050405020304" pitchFamily="18" charset="0"/>
              </a:rPr>
              <a:t>Our Model Sample Code:</a:t>
            </a:r>
          </a:p>
        </p:txBody>
      </p:sp>
      <p:pic>
        <p:nvPicPr>
          <p:cNvPr id="8" name="Picture 7">
            <a:extLst>
              <a:ext uri="{FF2B5EF4-FFF2-40B4-BE49-F238E27FC236}">
                <a16:creationId xmlns:a16="http://schemas.microsoft.com/office/drawing/2014/main" id="{ACCC7ECB-4221-5366-6EBF-F8B9E394E4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8600" y="1371600"/>
            <a:ext cx="4171154" cy="5029200"/>
          </a:xfrm>
          <a:prstGeom prst="rect">
            <a:avLst/>
          </a:prstGeom>
          <a:ln>
            <a:noFill/>
          </a:ln>
          <a:effectLst>
            <a:outerShdw blurRad="190500" algn="tl" rotWithShape="0">
              <a:srgbClr val="000000">
                <a:alpha val="70000"/>
              </a:srgbClr>
            </a:outerShdw>
          </a:effectLst>
        </p:spPr>
      </p:pic>
      <p:pic>
        <p:nvPicPr>
          <p:cNvPr id="6" name="Picture 5">
            <a:extLst>
              <a:ext uri="{FF2B5EF4-FFF2-40B4-BE49-F238E27FC236}">
                <a16:creationId xmlns:a16="http://schemas.microsoft.com/office/drawing/2014/main" id="{6B38611A-5599-74E6-503F-EB10E66C43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371600"/>
            <a:ext cx="7650051" cy="50292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707980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6FBF1-716D-8106-3644-387D962A50B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56D512B-D8D0-2505-5E8A-3E89EEF29AD4}"/>
              </a:ext>
            </a:extLst>
          </p:cNvPr>
          <p:cNvSpPr txBox="1">
            <a:spLocks/>
          </p:cNvSpPr>
          <p:nvPr/>
        </p:nvSpPr>
        <p:spPr>
          <a:xfrm>
            <a:off x="457200" y="381000"/>
            <a:ext cx="7086600" cy="430887"/>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2800" dirty="0">
                <a:solidFill>
                  <a:schemeClr val="tx1"/>
                </a:solidFill>
                <a:latin typeface="Eras Bold ITC" panose="020B0907030504020204" pitchFamily="34" charset="0"/>
                <a:cs typeface="Times New Roman" panose="02020603050405020304" pitchFamily="18" charset="0"/>
              </a:rPr>
              <a:t>Evidence Checking Sample Code:</a:t>
            </a:r>
          </a:p>
        </p:txBody>
      </p:sp>
      <p:pic>
        <p:nvPicPr>
          <p:cNvPr id="4" name="Picture 3">
            <a:extLst>
              <a:ext uri="{FF2B5EF4-FFF2-40B4-BE49-F238E27FC236}">
                <a16:creationId xmlns:a16="http://schemas.microsoft.com/office/drawing/2014/main" id="{C80BA1E4-BC12-3925-5D86-6A5CC93C97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066800"/>
            <a:ext cx="10553700" cy="561764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104220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33400" y="721356"/>
            <a:ext cx="2193798" cy="381515"/>
          </a:xfrm>
          <a:prstGeom prst="rect">
            <a:avLst/>
          </a:prstGeom>
        </p:spPr>
        <p:txBody>
          <a:bodyPr vert="horz" wrap="square" lIns="0" tIns="12065" rIns="0" bIns="0" rtlCol="0">
            <a:spAutoFit/>
          </a:bodyPr>
          <a:lstStyle/>
          <a:p>
            <a:pPr marL="12700" algn="ctr">
              <a:lnSpc>
                <a:spcPct val="100000"/>
              </a:lnSpc>
              <a:spcBef>
                <a:spcPts val="95"/>
              </a:spcBef>
            </a:pPr>
            <a:r>
              <a:rPr sz="2400" b="1" dirty="0">
                <a:solidFill>
                  <a:schemeClr val="bg2">
                    <a:lumMod val="25000"/>
                  </a:schemeClr>
                </a:solidFill>
                <a:latin typeface="Cambria"/>
                <a:cs typeface="Cambria"/>
              </a:rPr>
              <a:t>Home</a:t>
            </a:r>
            <a:r>
              <a:rPr sz="2400" b="1" spc="335" dirty="0">
                <a:solidFill>
                  <a:schemeClr val="bg2">
                    <a:lumMod val="25000"/>
                  </a:schemeClr>
                </a:solidFill>
                <a:latin typeface="Cambria"/>
                <a:cs typeface="Cambria"/>
              </a:rPr>
              <a:t> </a:t>
            </a:r>
            <a:r>
              <a:rPr sz="2400" b="1" spc="-190" dirty="0">
                <a:solidFill>
                  <a:schemeClr val="bg2">
                    <a:lumMod val="25000"/>
                  </a:schemeClr>
                </a:solidFill>
                <a:latin typeface="Cambria"/>
                <a:cs typeface="Cambria"/>
              </a:rPr>
              <a:t>Page</a:t>
            </a:r>
            <a:r>
              <a:rPr lang="en-US" sz="2400" b="1" spc="-190" dirty="0">
                <a:solidFill>
                  <a:schemeClr val="bg2">
                    <a:lumMod val="25000"/>
                  </a:schemeClr>
                </a:solidFill>
                <a:latin typeface="Cambria"/>
                <a:cs typeface="Cambria"/>
              </a:rPr>
              <a:t>:</a:t>
            </a:r>
            <a:endParaRPr sz="2400" dirty="0">
              <a:solidFill>
                <a:schemeClr val="bg2">
                  <a:lumMod val="25000"/>
                </a:schemeClr>
              </a:solidFill>
              <a:latin typeface="Cambria"/>
              <a:cs typeface="Cambria"/>
            </a:endParaRPr>
          </a:p>
        </p:txBody>
      </p:sp>
      <p:sp>
        <p:nvSpPr>
          <p:cNvPr id="23" name="Title 1">
            <a:extLst>
              <a:ext uri="{FF2B5EF4-FFF2-40B4-BE49-F238E27FC236}">
                <a16:creationId xmlns:a16="http://schemas.microsoft.com/office/drawing/2014/main" id="{49F62201-FB6B-FDD2-A3A4-32D734ADAB8D}"/>
              </a:ext>
            </a:extLst>
          </p:cNvPr>
          <p:cNvSpPr txBox="1">
            <a:spLocks/>
          </p:cNvSpPr>
          <p:nvPr/>
        </p:nvSpPr>
        <p:spPr>
          <a:xfrm>
            <a:off x="152400" y="164113"/>
            <a:ext cx="6096000" cy="430887"/>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pPr algn="ctr"/>
            <a:r>
              <a:rPr lang="en-US" sz="2800" dirty="0">
                <a:solidFill>
                  <a:schemeClr val="tx1"/>
                </a:solidFill>
                <a:latin typeface="Eras Bold ITC" panose="020B0907030504020204" pitchFamily="34" charset="0"/>
                <a:cs typeface="Times New Roman" panose="02020603050405020304" pitchFamily="18" charset="0"/>
              </a:rPr>
              <a:t>User Interface Of Our Model</a:t>
            </a:r>
          </a:p>
        </p:txBody>
      </p:sp>
      <p:sp>
        <p:nvSpPr>
          <p:cNvPr id="24" name="object 8">
            <a:extLst>
              <a:ext uri="{FF2B5EF4-FFF2-40B4-BE49-F238E27FC236}">
                <a16:creationId xmlns:a16="http://schemas.microsoft.com/office/drawing/2014/main" id="{46E65EBE-EF7D-9487-AF76-E5CCE4120BA7}"/>
              </a:ext>
            </a:extLst>
          </p:cNvPr>
          <p:cNvSpPr txBox="1"/>
          <p:nvPr/>
        </p:nvSpPr>
        <p:spPr>
          <a:xfrm>
            <a:off x="10820400" y="230028"/>
            <a:ext cx="1143000" cy="289823"/>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sz="1800" b="1" dirty="0">
                <a:latin typeface="Cambria"/>
                <a:cs typeface="Cambria"/>
              </a:rPr>
              <a:t>-</a:t>
            </a:r>
            <a:r>
              <a:rPr lang="en-IN" sz="1800" b="1" dirty="0">
                <a:latin typeface="Cambria"/>
                <a:cs typeface="Cambria"/>
              </a:rPr>
              <a:t> 14</a:t>
            </a:r>
            <a:r>
              <a:rPr lang="en-US" sz="1800" b="1" dirty="0">
                <a:latin typeface="Cambria"/>
                <a:cs typeface="Cambria"/>
              </a:rPr>
              <a:t> </a:t>
            </a:r>
            <a:r>
              <a:rPr sz="1800" b="1" spc="70" dirty="0">
                <a:latin typeface="Cambria"/>
                <a:cs typeface="Cambria"/>
              </a:rPr>
              <a:t> </a:t>
            </a:r>
            <a:endParaRPr sz="1800" dirty="0">
              <a:latin typeface="Cambria"/>
              <a:cs typeface="Cambria"/>
            </a:endParaRPr>
          </a:p>
        </p:txBody>
      </p:sp>
      <p:pic>
        <p:nvPicPr>
          <p:cNvPr id="5" name="Picture 4">
            <a:extLst>
              <a:ext uri="{FF2B5EF4-FFF2-40B4-BE49-F238E27FC236}">
                <a16:creationId xmlns:a16="http://schemas.microsoft.com/office/drawing/2014/main" id="{5746D08D-E80E-B958-3EA4-210F23F1FD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1295400"/>
            <a:ext cx="5105400" cy="5154023"/>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24F645FA-D56C-AC42-68D2-ADF5CF2EF4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36389" y="1295400"/>
            <a:ext cx="5216357" cy="5154023"/>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a:extLst>
              <a:ext uri="{FF2B5EF4-FFF2-40B4-BE49-F238E27FC236}">
                <a16:creationId xmlns:a16="http://schemas.microsoft.com/office/drawing/2014/main" id="{40787ECE-E8E0-DAD0-9321-2F4568FF87B7}"/>
              </a:ext>
            </a:extLst>
          </p:cNvPr>
          <p:cNvSpPr txBox="1"/>
          <p:nvPr/>
        </p:nvSpPr>
        <p:spPr>
          <a:xfrm>
            <a:off x="578103" y="748328"/>
            <a:ext cx="3911332" cy="763671"/>
          </a:xfrm>
          <a:prstGeom prst="rect">
            <a:avLst/>
          </a:prstGeom>
        </p:spPr>
        <p:txBody>
          <a:bodyPr vert="horz" wrap="square" lIns="0" tIns="12065" rIns="0" bIns="0" rtlCol="0">
            <a:spAutoFit/>
          </a:bodyPr>
          <a:lstStyle/>
          <a:p>
            <a:pPr marL="12700">
              <a:lnSpc>
                <a:spcPct val="100000"/>
              </a:lnSpc>
              <a:spcBef>
                <a:spcPts val="95"/>
              </a:spcBef>
            </a:pPr>
            <a:r>
              <a:rPr lang="en-US" sz="2400" b="1" dirty="0">
                <a:solidFill>
                  <a:schemeClr val="bg2">
                    <a:lumMod val="25000"/>
                  </a:schemeClr>
                </a:solidFill>
                <a:latin typeface="Cambria"/>
                <a:cs typeface="Cambria"/>
              </a:rPr>
              <a:t>News Detection Section</a:t>
            </a:r>
          </a:p>
          <a:p>
            <a:pPr marL="12700">
              <a:lnSpc>
                <a:spcPct val="100000"/>
              </a:lnSpc>
              <a:spcBef>
                <a:spcPts val="95"/>
              </a:spcBef>
            </a:pPr>
            <a:r>
              <a:rPr lang="en-US" sz="2400" b="1" dirty="0">
                <a:solidFill>
                  <a:schemeClr val="bg2">
                    <a:lumMod val="25000"/>
                  </a:schemeClr>
                </a:solidFill>
                <a:latin typeface="Cambria"/>
                <a:cs typeface="Cambria"/>
              </a:rPr>
              <a:t>Using Text:</a:t>
            </a:r>
            <a:endParaRPr sz="2400" dirty="0">
              <a:solidFill>
                <a:schemeClr val="bg2">
                  <a:lumMod val="25000"/>
                </a:schemeClr>
              </a:solidFill>
              <a:latin typeface="Cambria"/>
              <a:cs typeface="Cambria"/>
            </a:endParaRPr>
          </a:p>
        </p:txBody>
      </p:sp>
      <p:sp>
        <p:nvSpPr>
          <p:cNvPr id="4" name="Title 1">
            <a:extLst>
              <a:ext uri="{FF2B5EF4-FFF2-40B4-BE49-F238E27FC236}">
                <a16:creationId xmlns:a16="http://schemas.microsoft.com/office/drawing/2014/main" id="{805D793A-4ECE-32BB-FC8A-DAD2584D5E11}"/>
              </a:ext>
            </a:extLst>
          </p:cNvPr>
          <p:cNvSpPr txBox="1">
            <a:spLocks/>
          </p:cNvSpPr>
          <p:nvPr/>
        </p:nvSpPr>
        <p:spPr>
          <a:xfrm>
            <a:off x="381000" y="152400"/>
            <a:ext cx="6096000" cy="430887"/>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2800" dirty="0">
                <a:solidFill>
                  <a:schemeClr val="tx1"/>
                </a:solidFill>
                <a:latin typeface="Eras Bold ITC" panose="020B0907030504020204" pitchFamily="34" charset="0"/>
                <a:cs typeface="Times New Roman" panose="02020603050405020304" pitchFamily="18" charset="0"/>
              </a:rPr>
              <a:t>User Interface Of Our Model</a:t>
            </a:r>
          </a:p>
        </p:txBody>
      </p:sp>
      <p:pic>
        <p:nvPicPr>
          <p:cNvPr id="6" name="Picture 5">
            <a:extLst>
              <a:ext uri="{FF2B5EF4-FFF2-40B4-BE49-F238E27FC236}">
                <a16:creationId xmlns:a16="http://schemas.microsoft.com/office/drawing/2014/main" id="{3A06D6A2-E464-A408-2170-B9C3CC958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2445" y="1676400"/>
            <a:ext cx="5513555" cy="4837365"/>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9C491A2B-87E2-6F89-DFB8-CE19D31A9C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74318" y="1668183"/>
            <a:ext cx="4872182" cy="4853797"/>
          </a:xfrm>
          <a:prstGeom prst="rect">
            <a:avLst/>
          </a:prstGeom>
          <a:ln>
            <a:noFill/>
          </a:ln>
          <a:effectLst>
            <a:outerShdw blurRad="190500" algn="tl" rotWithShape="0">
              <a:srgbClr val="000000">
                <a:alpha val="70000"/>
              </a:srgbClr>
            </a:outerShdw>
          </a:effectLst>
        </p:spPr>
      </p:pic>
      <p:sp>
        <p:nvSpPr>
          <p:cNvPr id="9" name="TextBox 8">
            <a:extLst>
              <a:ext uri="{FF2B5EF4-FFF2-40B4-BE49-F238E27FC236}">
                <a16:creationId xmlns:a16="http://schemas.microsoft.com/office/drawing/2014/main" id="{28884142-DE85-40CA-EC43-5B163C109BB4}"/>
              </a:ext>
            </a:extLst>
          </p:cNvPr>
          <p:cNvSpPr txBox="1"/>
          <p:nvPr/>
        </p:nvSpPr>
        <p:spPr>
          <a:xfrm>
            <a:off x="6629400" y="1053808"/>
            <a:ext cx="1988682" cy="461665"/>
          </a:xfrm>
          <a:prstGeom prst="rect">
            <a:avLst/>
          </a:prstGeom>
          <a:noFill/>
        </p:spPr>
        <p:txBody>
          <a:bodyPr wrap="square" rtlCol="0">
            <a:spAutoFit/>
          </a:bodyPr>
          <a:lstStyle/>
          <a:p>
            <a:r>
              <a:rPr lang="en-US" sz="2400" b="1" dirty="0">
                <a:latin typeface="Cambria" panose="02040503050406030204" pitchFamily="18" charset="0"/>
                <a:ea typeface="Cambria" panose="02040503050406030204" pitchFamily="18" charset="0"/>
              </a:rPr>
              <a:t>Using Link:</a:t>
            </a:r>
            <a:endParaRPr lang="en-IN" sz="24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6805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a:extLst>
              <a:ext uri="{FF2B5EF4-FFF2-40B4-BE49-F238E27FC236}">
                <a16:creationId xmlns:a16="http://schemas.microsoft.com/office/drawing/2014/main" id="{EE5305CE-9568-705B-0F85-C48CABE38645}"/>
              </a:ext>
            </a:extLst>
          </p:cNvPr>
          <p:cNvSpPr txBox="1"/>
          <p:nvPr/>
        </p:nvSpPr>
        <p:spPr>
          <a:xfrm>
            <a:off x="7239000" y="2050335"/>
            <a:ext cx="1393429" cy="443070"/>
          </a:xfrm>
          <a:prstGeom prst="rect">
            <a:avLst/>
          </a:prstGeom>
        </p:spPr>
        <p:txBody>
          <a:bodyPr vert="horz" wrap="square" lIns="0" tIns="12065" rIns="0" bIns="0" rtlCol="0">
            <a:spAutoFit/>
          </a:bodyPr>
          <a:lstStyle/>
          <a:p>
            <a:pPr marL="12700">
              <a:lnSpc>
                <a:spcPct val="100000"/>
              </a:lnSpc>
              <a:spcBef>
                <a:spcPts val="95"/>
              </a:spcBef>
            </a:pPr>
            <a:r>
              <a:rPr lang="en-US" sz="2800" b="1" dirty="0">
                <a:solidFill>
                  <a:schemeClr val="bg2">
                    <a:lumMod val="25000"/>
                  </a:schemeClr>
                </a:solidFill>
                <a:latin typeface="Cambria"/>
                <a:cs typeface="Cambria"/>
              </a:rPr>
              <a:t>Result</a:t>
            </a:r>
            <a:endParaRPr sz="2800" dirty="0">
              <a:solidFill>
                <a:schemeClr val="bg2">
                  <a:lumMod val="25000"/>
                </a:schemeClr>
              </a:solidFill>
              <a:latin typeface="Cambria"/>
              <a:cs typeface="Cambria"/>
            </a:endParaRPr>
          </a:p>
        </p:txBody>
      </p:sp>
      <p:sp>
        <p:nvSpPr>
          <p:cNvPr id="8" name="Title 1">
            <a:extLst>
              <a:ext uri="{FF2B5EF4-FFF2-40B4-BE49-F238E27FC236}">
                <a16:creationId xmlns:a16="http://schemas.microsoft.com/office/drawing/2014/main" id="{42DFD7CE-5FD7-DB9C-2080-D98C112E9E30}"/>
              </a:ext>
            </a:extLst>
          </p:cNvPr>
          <p:cNvSpPr txBox="1">
            <a:spLocks/>
          </p:cNvSpPr>
          <p:nvPr/>
        </p:nvSpPr>
        <p:spPr>
          <a:xfrm>
            <a:off x="533400" y="294824"/>
            <a:ext cx="60960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3200" dirty="0">
                <a:solidFill>
                  <a:schemeClr val="tx1"/>
                </a:solidFill>
                <a:latin typeface="Eras Bold ITC" panose="020B0907030504020204" pitchFamily="34" charset="0"/>
                <a:cs typeface="Times New Roman" panose="02020603050405020304" pitchFamily="18" charset="0"/>
              </a:rPr>
              <a:t>User Interface Of Our Model</a:t>
            </a:r>
          </a:p>
        </p:txBody>
      </p:sp>
      <p:sp>
        <p:nvSpPr>
          <p:cNvPr id="9" name="object 8">
            <a:extLst>
              <a:ext uri="{FF2B5EF4-FFF2-40B4-BE49-F238E27FC236}">
                <a16:creationId xmlns:a16="http://schemas.microsoft.com/office/drawing/2014/main" id="{5C9CC641-4E44-75ED-811A-1B0B5F9D965D}"/>
              </a:ext>
            </a:extLst>
          </p:cNvPr>
          <p:cNvSpPr txBox="1"/>
          <p:nvPr/>
        </p:nvSpPr>
        <p:spPr>
          <a:xfrm>
            <a:off x="10820400" y="230028"/>
            <a:ext cx="1143000" cy="289823"/>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sz="1800" b="1" dirty="0">
                <a:latin typeface="Cambria"/>
                <a:cs typeface="Cambria"/>
              </a:rPr>
              <a:t>-</a:t>
            </a:r>
            <a:r>
              <a:rPr lang="en-IN" sz="1800" b="1" dirty="0">
                <a:latin typeface="Cambria"/>
                <a:cs typeface="Cambria"/>
              </a:rPr>
              <a:t> 15</a:t>
            </a:r>
            <a:r>
              <a:rPr lang="en-US" sz="1800" b="1" dirty="0">
                <a:latin typeface="Cambria"/>
                <a:cs typeface="Cambria"/>
              </a:rPr>
              <a:t> </a:t>
            </a:r>
            <a:r>
              <a:rPr sz="1800" b="1" spc="70" dirty="0">
                <a:latin typeface="Cambria"/>
                <a:cs typeface="Cambria"/>
              </a:rPr>
              <a:t> </a:t>
            </a:r>
            <a:endParaRPr sz="1800" dirty="0">
              <a:latin typeface="Cambria"/>
              <a:cs typeface="Cambria"/>
            </a:endParaRPr>
          </a:p>
        </p:txBody>
      </p:sp>
      <p:pic>
        <p:nvPicPr>
          <p:cNvPr id="5" name="Picture 4">
            <a:extLst>
              <a:ext uri="{FF2B5EF4-FFF2-40B4-BE49-F238E27FC236}">
                <a16:creationId xmlns:a16="http://schemas.microsoft.com/office/drawing/2014/main" id="{F90C7A42-5F2D-3716-C48E-E4652E57CF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 y="2271870"/>
            <a:ext cx="5906362" cy="4052730"/>
          </a:xfrm>
          <a:prstGeom prst="rect">
            <a:avLst/>
          </a:prstGeom>
          <a:ln>
            <a:noFill/>
          </a:ln>
          <a:effectLst>
            <a:outerShdw blurRad="190500" algn="tl" rotWithShape="0">
              <a:srgbClr val="000000">
                <a:alpha val="70000"/>
              </a:srgbClr>
            </a:outerShdw>
          </a:effectLst>
        </p:spPr>
      </p:pic>
      <p:pic>
        <p:nvPicPr>
          <p:cNvPr id="13" name="Picture 12">
            <a:extLst>
              <a:ext uri="{FF2B5EF4-FFF2-40B4-BE49-F238E27FC236}">
                <a16:creationId xmlns:a16="http://schemas.microsoft.com/office/drawing/2014/main" id="{CDEE6070-4F1F-C38A-4C67-0512369703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4200" y="2743200"/>
            <a:ext cx="4954724" cy="2286000"/>
          </a:xfrm>
          <a:prstGeom prst="rect">
            <a:avLst/>
          </a:prstGeom>
          <a:ln>
            <a:noFill/>
          </a:ln>
          <a:effectLst>
            <a:outerShdw blurRad="190500" algn="tl" rotWithShape="0">
              <a:srgbClr val="000000">
                <a:alpha val="70000"/>
              </a:srgbClr>
            </a:outerShdw>
          </a:effectLst>
        </p:spPr>
      </p:pic>
      <p:sp>
        <p:nvSpPr>
          <p:cNvPr id="14" name="TextBox 13">
            <a:extLst>
              <a:ext uri="{FF2B5EF4-FFF2-40B4-BE49-F238E27FC236}">
                <a16:creationId xmlns:a16="http://schemas.microsoft.com/office/drawing/2014/main" id="{C73F283D-6C90-6D50-3D45-05D7C4DDB375}"/>
              </a:ext>
            </a:extLst>
          </p:cNvPr>
          <p:cNvSpPr txBox="1"/>
          <p:nvPr/>
        </p:nvSpPr>
        <p:spPr>
          <a:xfrm>
            <a:off x="381000" y="1602525"/>
            <a:ext cx="1988682" cy="461665"/>
          </a:xfrm>
          <a:prstGeom prst="rect">
            <a:avLst/>
          </a:prstGeom>
          <a:noFill/>
        </p:spPr>
        <p:txBody>
          <a:bodyPr wrap="square" rtlCol="0">
            <a:spAutoFit/>
          </a:bodyPr>
          <a:lstStyle/>
          <a:p>
            <a:r>
              <a:rPr lang="en-US" sz="2400" b="1" dirty="0">
                <a:latin typeface="Cambria" panose="02040503050406030204" pitchFamily="18" charset="0"/>
                <a:ea typeface="Cambria" panose="02040503050406030204" pitchFamily="18" charset="0"/>
              </a:rPr>
              <a:t>Using Image:</a:t>
            </a:r>
            <a:endParaRPr lang="en-IN" sz="24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34812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12B1F47-761B-3ADB-45E2-B49913570701}"/>
              </a:ext>
            </a:extLst>
          </p:cNvPr>
          <p:cNvSpPr txBox="1">
            <a:spLocks/>
          </p:cNvSpPr>
          <p:nvPr/>
        </p:nvSpPr>
        <p:spPr>
          <a:xfrm>
            <a:off x="762000" y="685800"/>
            <a:ext cx="60960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3200" dirty="0">
                <a:solidFill>
                  <a:schemeClr val="tx1"/>
                </a:solidFill>
                <a:latin typeface="Eras Bold ITC" panose="020B0907030504020204" pitchFamily="34" charset="0"/>
                <a:cs typeface="Times New Roman" panose="02020603050405020304" pitchFamily="18" charset="0"/>
              </a:rPr>
              <a:t>Future Work</a:t>
            </a:r>
          </a:p>
        </p:txBody>
      </p:sp>
      <p:sp>
        <p:nvSpPr>
          <p:cNvPr id="30" name="object 4">
            <a:extLst>
              <a:ext uri="{FF2B5EF4-FFF2-40B4-BE49-F238E27FC236}">
                <a16:creationId xmlns:a16="http://schemas.microsoft.com/office/drawing/2014/main" id="{DB1AC884-109D-636A-D431-274C0DB947AA}"/>
              </a:ext>
            </a:extLst>
          </p:cNvPr>
          <p:cNvSpPr txBox="1"/>
          <p:nvPr/>
        </p:nvSpPr>
        <p:spPr>
          <a:xfrm>
            <a:off x="798871" y="1676400"/>
            <a:ext cx="9484995" cy="4507003"/>
          </a:xfrm>
          <a:prstGeom prst="rect">
            <a:avLst/>
          </a:prstGeom>
        </p:spPr>
        <p:txBody>
          <a:bodyPr vert="horz" wrap="square" lIns="0" tIns="13335" rIns="0" bIns="0" rtlCol="0">
            <a:spAutoFit/>
          </a:bodyPr>
          <a:lstStyle/>
          <a:p>
            <a:r>
              <a:rPr lang="en-US" b="1" dirty="0"/>
              <a:t>1. Social Account Verification</a:t>
            </a:r>
          </a:p>
          <a:p>
            <a:pPr>
              <a:buFont typeface="Arial" panose="020B0604020202020204" pitchFamily="34" charset="0"/>
              <a:buChar char="•"/>
            </a:pPr>
            <a:r>
              <a:rPr lang="en-US" dirty="0"/>
              <a:t>Detect whether a social media account is </a:t>
            </a:r>
            <a:r>
              <a:rPr lang="en-US" b="1" dirty="0"/>
              <a:t>real or fake</a:t>
            </a:r>
            <a:r>
              <a:rPr lang="en-US" dirty="0"/>
              <a:t>.</a:t>
            </a:r>
          </a:p>
          <a:p>
            <a:pPr>
              <a:buFont typeface="Arial" panose="020B0604020202020204" pitchFamily="34" charset="0"/>
              <a:buChar char="•"/>
            </a:pPr>
            <a:r>
              <a:rPr lang="en-US" b="1" dirty="0"/>
              <a:t>Features to analyze:</a:t>
            </a:r>
            <a:endParaRPr lang="en-US" dirty="0"/>
          </a:p>
          <a:p>
            <a:pPr marL="742950" lvl="1" indent="-285750">
              <a:buFont typeface="Arial" panose="020B0604020202020204" pitchFamily="34" charset="0"/>
              <a:buChar char="•"/>
            </a:pPr>
            <a:r>
              <a:rPr lang="en-US" dirty="0"/>
              <a:t>Profile picture authenticity</a:t>
            </a:r>
          </a:p>
          <a:p>
            <a:pPr marL="742950" lvl="1" indent="-285750">
              <a:buFont typeface="Arial" panose="020B0604020202020204" pitchFamily="34" charset="0"/>
              <a:buChar char="•"/>
            </a:pPr>
            <a:r>
              <a:rPr lang="en-US" dirty="0"/>
              <a:t>Account creation date</a:t>
            </a:r>
          </a:p>
          <a:p>
            <a:pPr marL="742950" lvl="1" indent="-285750">
              <a:buFont typeface="Arial" panose="020B0604020202020204" pitchFamily="34" charset="0"/>
              <a:buChar char="•"/>
            </a:pPr>
            <a:r>
              <a:rPr lang="en-US" dirty="0"/>
              <a:t>Location</a:t>
            </a:r>
          </a:p>
          <a:p>
            <a:pPr marL="742950" lvl="1" indent="-285750">
              <a:buFont typeface="Arial" panose="020B0604020202020204" pitchFamily="34" charset="0"/>
              <a:buChar char="•"/>
            </a:pPr>
            <a:r>
              <a:rPr lang="en-US" dirty="0"/>
              <a:t>Post frequency and activity patterns</a:t>
            </a:r>
          </a:p>
          <a:p>
            <a:pPr marL="742950" lvl="1" indent="-285750">
              <a:buFont typeface="Arial" panose="020B0604020202020204" pitchFamily="34" charset="0"/>
              <a:buChar char="•"/>
            </a:pPr>
            <a:r>
              <a:rPr lang="en-US" dirty="0"/>
              <a:t>Behavior patterns and interaction analysis</a:t>
            </a:r>
          </a:p>
          <a:p>
            <a:pPr>
              <a:buFont typeface="Arial" panose="020B0604020202020204" pitchFamily="34" charset="0"/>
              <a:buChar char="•"/>
            </a:pPr>
            <a:r>
              <a:rPr lang="en-US" b="1" dirty="0"/>
              <a:t>Goal:</a:t>
            </a:r>
            <a:r>
              <a:rPr lang="en-US" dirty="0"/>
              <a:t> Prevent fake accounts from spreading misinformation.</a:t>
            </a:r>
          </a:p>
          <a:p>
            <a:pPr>
              <a:buFont typeface="Arial" panose="020B0604020202020204" pitchFamily="34" charset="0"/>
              <a:buChar char="•"/>
            </a:pPr>
            <a:endParaRPr lang="en-US" dirty="0"/>
          </a:p>
          <a:p>
            <a:r>
              <a:rPr lang="en-US" sz="2000" b="1" dirty="0">
                <a:latin typeface="Times New Roman" panose="02020603050405020304" pitchFamily="18" charset="0"/>
                <a:cs typeface="Times New Roman" panose="02020603050405020304" pitchFamily="18" charset="0"/>
              </a:rPr>
              <a:t>2. Multi-Language Support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Expand detection to multiple languages.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Preprocess text in other languages and use language-specific embeddings.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Helps make the system more globally applicable.</a:t>
            </a:r>
          </a:p>
          <a:p>
            <a:pPr>
              <a:buFont typeface="Arial" panose="020B0604020202020204" pitchFamily="34" charset="0"/>
              <a:buChar char="•"/>
            </a:pPr>
            <a:endParaRPr lang="en-US" dirty="0"/>
          </a:p>
          <a:p>
            <a:endParaRPr lang="en-US" sz="2000" dirty="0"/>
          </a:p>
        </p:txBody>
      </p:sp>
      <p:sp>
        <p:nvSpPr>
          <p:cNvPr id="8" name="object 8">
            <a:extLst>
              <a:ext uri="{FF2B5EF4-FFF2-40B4-BE49-F238E27FC236}">
                <a16:creationId xmlns:a16="http://schemas.microsoft.com/office/drawing/2014/main" id="{A7F5D392-A2FD-FBA8-FB46-1289BF521989}"/>
              </a:ext>
            </a:extLst>
          </p:cNvPr>
          <p:cNvSpPr txBox="1"/>
          <p:nvPr/>
        </p:nvSpPr>
        <p:spPr>
          <a:xfrm>
            <a:off x="10820400" y="230028"/>
            <a:ext cx="1143000" cy="289823"/>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sz="1800" b="1" dirty="0">
                <a:latin typeface="Cambria"/>
                <a:cs typeface="Cambria"/>
              </a:rPr>
              <a:t>-</a:t>
            </a:r>
            <a:r>
              <a:rPr lang="en-IN" sz="1800" b="1" dirty="0">
                <a:latin typeface="Cambria"/>
                <a:cs typeface="Cambria"/>
              </a:rPr>
              <a:t> 18</a:t>
            </a:r>
            <a:r>
              <a:rPr lang="en-US" sz="1800" b="1" dirty="0">
                <a:latin typeface="Cambria"/>
                <a:cs typeface="Cambria"/>
              </a:rPr>
              <a:t> </a:t>
            </a:r>
            <a:r>
              <a:rPr sz="1800" b="1" spc="70" dirty="0">
                <a:latin typeface="Cambria"/>
                <a:cs typeface="Cambria"/>
              </a:rPr>
              <a:t> </a:t>
            </a:r>
            <a:endParaRPr sz="1800" dirty="0">
              <a:latin typeface="Cambria"/>
              <a:cs typeface="Cambria"/>
            </a:endParaRPr>
          </a:p>
        </p:txBody>
      </p:sp>
    </p:spTree>
    <p:extLst>
      <p:ext uri="{BB962C8B-B14F-4D97-AF65-F5344CB8AC3E}">
        <p14:creationId xmlns:p14="http://schemas.microsoft.com/office/powerpoint/2010/main" val="1214528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12B1F47-761B-3ADB-45E2-B49913570701}"/>
              </a:ext>
            </a:extLst>
          </p:cNvPr>
          <p:cNvSpPr txBox="1">
            <a:spLocks/>
          </p:cNvSpPr>
          <p:nvPr/>
        </p:nvSpPr>
        <p:spPr>
          <a:xfrm>
            <a:off x="762000" y="685800"/>
            <a:ext cx="60960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3200" dirty="0">
                <a:solidFill>
                  <a:schemeClr val="tx1"/>
                </a:solidFill>
                <a:latin typeface="Eras Bold ITC" panose="020B0907030504020204" pitchFamily="34" charset="0"/>
                <a:cs typeface="Times New Roman" panose="02020603050405020304" pitchFamily="18" charset="0"/>
              </a:rPr>
              <a:t>Future Work</a:t>
            </a:r>
          </a:p>
        </p:txBody>
      </p:sp>
      <p:sp>
        <p:nvSpPr>
          <p:cNvPr id="30" name="object 4">
            <a:extLst>
              <a:ext uri="{FF2B5EF4-FFF2-40B4-BE49-F238E27FC236}">
                <a16:creationId xmlns:a16="http://schemas.microsoft.com/office/drawing/2014/main" id="{DB1AC884-109D-636A-D431-274C0DB947AA}"/>
              </a:ext>
            </a:extLst>
          </p:cNvPr>
          <p:cNvSpPr txBox="1"/>
          <p:nvPr/>
        </p:nvSpPr>
        <p:spPr>
          <a:xfrm>
            <a:off x="798871" y="1676400"/>
            <a:ext cx="9484995" cy="5891998"/>
          </a:xfrm>
          <a:prstGeom prst="rect">
            <a:avLst/>
          </a:prstGeom>
        </p:spPr>
        <p:txBody>
          <a:bodyPr vert="horz" wrap="square" lIns="0" tIns="13335" rIns="0" bIns="0" rtlCol="0">
            <a:spAutoFit/>
          </a:bodyPr>
          <a:lstStyle/>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Real-Time Social Media Monitoring (Future Extension)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Scan social media posts in real time to detect potential fake news.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Flag suspicious content instantly.</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Future extension: </a:t>
            </a:r>
            <a:r>
              <a:rPr lang="en-US" dirty="0">
                <a:latin typeface="Times New Roman" panose="02020603050405020304" pitchFamily="18" charset="0"/>
                <a:cs typeface="Times New Roman" panose="02020603050405020304" pitchFamily="18" charset="0"/>
              </a:rPr>
              <a:t>Can be developed into a real-time alert system or browser plugin that warns users     when they encounter potential fake news.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Can also integrate trending topic detection for proactive monitoring.</a:t>
            </a:r>
          </a:p>
          <a:p>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4. Exploring a New </a:t>
            </a:r>
            <a:r>
              <a:rPr lang="en-US" sz="2000" b="1" dirty="0" err="1">
                <a:latin typeface="Times New Roman" panose="02020603050405020304" pitchFamily="18" charset="0"/>
                <a:cs typeface="Times New Roman" panose="02020603050405020304" pitchFamily="18" charset="0"/>
              </a:rPr>
              <a:t>DistilBERT</a:t>
            </a:r>
            <a:r>
              <a:rPr lang="en-US" sz="2000" b="1" dirty="0">
                <a:latin typeface="Times New Roman" panose="02020603050405020304" pitchFamily="18" charset="0"/>
                <a:cs typeface="Times New Roman" panose="02020603050405020304" pitchFamily="18" charset="0"/>
              </a:rPr>
              <a:t> + CNN Model</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Replace LSTM with </a:t>
            </a:r>
            <a:r>
              <a:rPr lang="en-US" dirty="0" err="1">
                <a:latin typeface="Times New Roman" panose="02020603050405020304" pitchFamily="18" charset="0"/>
                <a:cs typeface="Times New Roman" panose="02020603050405020304" pitchFamily="18" charset="0"/>
              </a:rPr>
              <a:t>DistilBERT</a:t>
            </a:r>
            <a:r>
              <a:rPr lang="en-US" dirty="0">
                <a:latin typeface="Times New Roman" panose="02020603050405020304" pitchFamily="18" charset="0"/>
                <a:cs typeface="Times New Roman" panose="02020603050405020304" pitchFamily="18" charset="0"/>
              </a:rPr>
              <a:t>, a pre-trained transformer model.</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Combine with CNN for feature extraction from rich contextual embeddings.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Uses transfer learning → better language understanding with less data.</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Expected to achieve higher accuracy and faster processing.</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44" name="object 8">
            <a:extLst>
              <a:ext uri="{FF2B5EF4-FFF2-40B4-BE49-F238E27FC236}">
                <a16:creationId xmlns:a16="http://schemas.microsoft.com/office/drawing/2014/main" id="{17DB5D11-0AF6-857A-30B2-022EACC33D65}"/>
              </a:ext>
            </a:extLst>
          </p:cNvPr>
          <p:cNvSpPr txBox="1"/>
          <p:nvPr/>
        </p:nvSpPr>
        <p:spPr>
          <a:xfrm>
            <a:off x="10820400" y="230028"/>
            <a:ext cx="1143000" cy="289823"/>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70" dirty="0">
                <a:latin typeface="Cambria"/>
                <a:cs typeface="Cambria"/>
              </a:rPr>
              <a:t> </a:t>
            </a:r>
            <a:r>
              <a:rPr sz="1800" b="1" dirty="0">
                <a:latin typeface="Cambria"/>
                <a:cs typeface="Cambria"/>
              </a:rPr>
              <a:t>-</a:t>
            </a:r>
            <a:r>
              <a:rPr lang="en-IN" sz="1800" b="1" dirty="0">
                <a:latin typeface="Cambria"/>
                <a:cs typeface="Cambria"/>
              </a:rPr>
              <a:t> 19</a:t>
            </a:r>
            <a:r>
              <a:rPr lang="en-US" sz="1800" b="1" dirty="0">
                <a:latin typeface="Cambria"/>
                <a:cs typeface="Cambria"/>
              </a:rPr>
              <a:t> </a:t>
            </a:r>
            <a:r>
              <a:rPr sz="1800" b="1" spc="70" dirty="0">
                <a:latin typeface="Cambria"/>
                <a:cs typeface="Cambria"/>
              </a:rPr>
              <a:t> </a:t>
            </a:r>
            <a:endParaRPr sz="1800" dirty="0">
              <a:latin typeface="Cambria"/>
              <a:cs typeface="Cambri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640694" y="214121"/>
            <a:ext cx="1025525"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65" dirty="0">
                <a:latin typeface="Cambria"/>
                <a:cs typeface="Cambria"/>
              </a:rPr>
              <a:t> </a:t>
            </a:r>
            <a:r>
              <a:rPr sz="1800" b="1" dirty="0">
                <a:latin typeface="Cambria"/>
                <a:cs typeface="Cambria"/>
              </a:rPr>
              <a:t>-</a:t>
            </a:r>
            <a:r>
              <a:rPr sz="1800" b="1" spc="70" dirty="0">
                <a:latin typeface="Cambria"/>
                <a:cs typeface="Cambria"/>
              </a:rPr>
              <a:t> </a:t>
            </a:r>
            <a:r>
              <a:rPr lang="en-IN" b="1" spc="-35" dirty="0">
                <a:latin typeface="Cambria"/>
                <a:cs typeface="Cambria"/>
              </a:rPr>
              <a:t>20</a:t>
            </a:r>
            <a:endParaRPr sz="1800" dirty="0">
              <a:latin typeface="Cambria"/>
              <a:cs typeface="Cambria"/>
            </a:endParaRPr>
          </a:p>
        </p:txBody>
      </p:sp>
      <p:sp>
        <p:nvSpPr>
          <p:cNvPr id="5" name="Title 1">
            <a:extLst>
              <a:ext uri="{FF2B5EF4-FFF2-40B4-BE49-F238E27FC236}">
                <a16:creationId xmlns:a16="http://schemas.microsoft.com/office/drawing/2014/main" id="{813DD416-7AB0-1A89-F366-BA214BD32525}"/>
              </a:ext>
            </a:extLst>
          </p:cNvPr>
          <p:cNvSpPr txBox="1">
            <a:spLocks/>
          </p:cNvSpPr>
          <p:nvPr/>
        </p:nvSpPr>
        <p:spPr>
          <a:xfrm>
            <a:off x="762000" y="685800"/>
            <a:ext cx="60960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3200" dirty="0">
                <a:solidFill>
                  <a:schemeClr val="tx1"/>
                </a:solidFill>
                <a:latin typeface="Eras Bold ITC" panose="020B0907030504020204" pitchFamily="34" charset="0"/>
                <a:cs typeface="Times New Roman" panose="02020603050405020304" pitchFamily="18" charset="0"/>
              </a:rPr>
              <a:t>Conclusion</a:t>
            </a:r>
          </a:p>
        </p:txBody>
      </p:sp>
      <p:sp>
        <p:nvSpPr>
          <p:cNvPr id="6" name="Rectangle 2">
            <a:extLst>
              <a:ext uri="{FF2B5EF4-FFF2-40B4-BE49-F238E27FC236}">
                <a16:creationId xmlns:a16="http://schemas.microsoft.com/office/drawing/2014/main" id="{01EEBCC1-F13C-25AC-5B71-36A263642A37}"/>
              </a:ext>
            </a:extLst>
          </p:cNvPr>
          <p:cNvSpPr>
            <a:spLocks noChangeArrowheads="1"/>
          </p:cNvSpPr>
          <p:nvPr/>
        </p:nvSpPr>
        <p:spPr bwMode="auto">
          <a:xfrm>
            <a:off x="1371600" y="1394059"/>
            <a:ext cx="8458200"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successfully developed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fake news detection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machine learning and deep learning.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training and comparing multiple models,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LSTM + CNN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was selected as the final model due to its strong performance and deployment efficiency.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is implemented as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application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React and Flask.</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Our work shows how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and NLP can be effectively used to reduce the spread of misinformation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4F640-D2C4-9350-64DE-83E9BD286ECF}"/>
              </a:ext>
            </a:extLst>
          </p:cNvPr>
          <p:cNvSpPr txBox="1">
            <a:spLocks/>
          </p:cNvSpPr>
          <p:nvPr/>
        </p:nvSpPr>
        <p:spPr>
          <a:xfrm>
            <a:off x="762000" y="685800"/>
            <a:ext cx="6096000" cy="492443"/>
          </a:xfrm>
          <a:prstGeom prst="rect">
            <a:avLst/>
          </a:prstGeom>
        </p:spPr>
        <p:txBody>
          <a:bodyPr wrap="square" lIns="0" tIns="0" rIns="0" bIns="0">
            <a:spAutoFit/>
          </a:bodyPr>
          <a:lstStyle>
            <a:lvl1pPr>
              <a:defRPr sz="2000" b="1" i="0">
                <a:solidFill>
                  <a:srgbClr val="9E3611"/>
                </a:solidFill>
                <a:latin typeface="Cambria"/>
                <a:ea typeface="+mj-ea"/>
                <a:cs typeface="Cambria"/>
              </a:defRPr>
            </a:lvl1pPr>
          </a:lstStyle>
          <a:p>
            <a:r>
              <a:rPr lang="en-US" sz="3200" dirty="0">
                <a:solidFill>
                  <a:schemeClr val="tx1"/>
                </a:solidFill>
                <a:latin typeface="Eras Bold ITC" panose="020B0907030504020204" pitchFamily="34" charset="0"/>
                <a:cs typeface="Times New Roman" panose="02020603050405020304" pitchFamily="18" charset="0"/>
              </a:rPr>
              <a:t>References</a:t>
            </a:r>
          </a:p>
        </p:txBody>
      </p:sp>
      <p:sp>
        <p:nvSpPr>
          <p:cNvPr id="3" name="TextBox 2">
            <a:extLst>
              <a:ext uri="{FF2B5EF4-FFF2-40B4-BE49-F238E27FC236}">
                <a16:creationId xmlns:a16="http://schemas.microsoft.com/office/drawing/2014/main" id="{19D35185-C0EA-809D-4098-3AF1B88DB31F}"/>
              </a:ext>
            </a:extLst>
          </p:cNvPr>
          <p:cNvSpPr txBox="1"/>
          <p:nvPr/>
        </p:nvSpPr>
        <p:spPr>
          <a:xfrm>
            <a:off x="914400" y="1600200"/>
            <a:ext cx="10896600" cy="4524315"/>
          </a:xfrm>
          <a:prstGeom prst="rect">
            <a:avLst/>
          </a:prstGeom>
          <a:noFill/>
        </p:spPr>
        <p:txBody>
          <a:bodyPr wrap="square" rtlCol="0">
            <a:spAutoFit/>
          </a:bodyPr>
          <a:lstStyle/>
          <a:p>
            <a:pPr marL="285750" indent="-285750">
              <a:buFont typeface="Arial" panose="020B0604020202020204" pitchFamily="34" charset="0"/>
              <a:buChar char="•"/>
            </a:pPr>
            <a:r>
              <a:rPr lang="en-US" dirty="0"/>
              <a:t>M. </a:t>
            </a:r>
            <a:r>
              <a:rPr lang="en-US" dirty="0" err="1"/>
              <a:t>Alsmadi</a:t>
            </a:r>
            <a:r>
              <a:rPr lang="en-US" dirty="0"/>
              <a:t>, et al. “A Comparative Study of Machine Learning Algorithms for Fake News Detection on Social Media,” Journal of King Saud University - Computer and Information Sciences, Elsevier, 2025. Available at: </a:t>
            </a:r>
            <a:r>
              <a:rPr lang="en-US" dirty="0">
                <a:hlinkClick r:id="rId2"/>
              </a:rPr>
              <a:t>https://www.sciencedirect.com/science/article/pii/S2590123025008291</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Adnan and S. Hasan, “Deep Learning Models for Fake News Classification using NLP,” </a:t>
            </a:r>
            <a:r>
              <a:rPr lang="en-US" dirty="0" err="1"/>
              <a:t>Heliyon</a:t>
            </a:r>
            <a:r>
              <a:rPr lang="en-US" dirty="0"/>
              <a:t> Journal, Elsevier, 2024. Available at: https://www.sciencedirect.com/science/article/pii/S2665917424000047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 Kumar and R. Singh, “Fake News Detection Using Hybrid Machine Learning Techniques,” Journal of Applied Soft Computing, Elsevier, 2024. Available at: </a:t>
            </a:r>
            <a:r>
              <a:rPr lang="en-US" dirty="0">
                <a:hlinkClick r:id="rId3"/>
              </a:rPr>
              <a:t>https://www.sciencedirect.com/science/article/pii/S2405844024012751</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 Rani and P. Verma, “Fake News Detection using NLP and Deep Learning: A Review,” Journal of Engineering Science (JES), ESR Group, 2023. Available at: </a:t>
            </a:r>
            <a:r>
              <a:rPr lang="en-US" dirty="0">
                <a:hlinkClick r:id="rId4"/>
              </a:rPr>
              <a:t>https://journal.esrgroups.org/jes/article/view/8618/5775</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ChatGPT - https://chatgpt.com/c/68f0cee0-6114-8322-8cfe-2eb7f275791d</a:t>
            </a:r>
            <a:endParaRPr lang="en-IN" dirty="0"/>
          </a:p>
        </p:txBody>
      </p:sp>
      <p:sp>
        <p:nvSpPr>
          <p:cNvPr id="7" name="object 3">
            <a:extLst>
              <a:ext uri="{FF2B5EF4-FFF2-40B4-BE49-F238E27FC236}">
                <a16:creationId xmlns:a16="http://schemas.microsoft.com/office/drawing/2014/main" id="{97315DAE-A274-C96D-5474-FDE149E8D422}"/>
              </a:ext>
            </a:extLst>
          </p:cNvPr>
          <p:cNvSpPr txBox="1"/>
          <p:nvPr/>
        </p:nvSpPr>
        <p:spPr>
          <a:xfrm>
            <a:off x="10640694" y="214121"/>
            <a:ext cx="1025525"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Cambria"/>
                <a:cs typeface="Cambria"/>
              </a:rPr>
              <a:t>Page</a:t>
            </a:r>
            <a:r>
              <a:rPr sz="1800" b="1" spc="65" dirty="0">
                <a:latin typeface="Cambria"/>
                <a:cs typeface="Cambria"/>
              </a:rPr>
              <a:t> </a:t>
            </a:r>
            <a:r>
              <a:rPr sz="1800" b="1" dirty="0">
                <a:latin typeface="Cambria"/>
                <a:cs typeface="Cambria"/>
              </a:rPr>
              <a:t>-</a:t>
            </a:r>
            <a:r>
              <a:rPr sz="1800" b="1" spc="70" dirty="0">
                <a:latin typeface="Cambria"/>
                <a:cs typeface="Cambria"/>
              </a:rPr>
              <a:t> </a:t>
            </a:r>
            <a:r>
              <a:rPr lang="en-IN" b="1" spc="-35" dirty="0">
                <a:latin typeface="Cambria"/>
                <a:cs typeface="Cambria"/>
              </a:rPr>
              <a:t>21</a:t>
            </a:r>
            <a:endParaRPr sz="1800" dirty="0">
              <a:latin typeface="Cambria"/>
              <a:cs typeface="Cambria"/>
            </a:endParaRPr>
          </a:p>
        </p:txBody>
      </p:sp>
    </p:spTree>
    <p:extLst>
      <p:ext uri="{BB962C8B-B14F-4D97-AF65-F5344CB8AC3E}">
        <p14:creationId xmlns:p14="http://schemas.microsoft.com/office/powerpoint/2010/main" val="1622973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8"/>
          </a:xfrm>
          <a:prstGeom prst="rect">
            <a:avLst/>
          </a:prstGeom>
        </p:spPr>
      </p:pic>
      <p:sp>
        <p:nvSpPr>
          <p:cNvPr id="4" name="object 3">
            <a:extLst>
              <a:ext uri="{FF2B5EF4-FFF2-40B4-BE49-F238E27FC236}">
                <a16:creationId xmlns:a16="http://schemas.microsoft.com/office/drawing/2014/main" id="{96BEC204-6D05-8E4A-1710-6FA8C31516C0}"/>
              </a:ext>
            </a:extLst>
          </p:cNvPr>
          <p:cNvSpPr txBox="1"/>
          <p:nvPr/>
        </p:nvSpPr>
        <p:spPr>
          <a:xfrm>
            <a:off x="10640694" y="214121"/>
            <a:ext cx="1025525" cy="299720"/>
          </a:xfrm>
          <a:prstGeom prst="rect">
            <a:avLst/>
          </a:prstGeom>
        </p:spPr>
        <p:txBody>
          <a:bodyPr vert="horz" wrap="square" lIns="0" tIns="12700" rIns="0" bIns="0" rtlCol="0">
            <a:spAutoFit/>
          </a:bodyPr>
          <a:lstStyle/>
          <a:p>
            <a:pPr marL="12700">
              <a:lnSpc>
                <a:spcPct val="100000"/>
              </a:lnSpc>
              <a:spcBef>
                <a:spcPts val="100"/>
              </a:spcBef>
            </a:pPr>
            <a:r>
              <a:rPr sz="1800" b="1" spc="90" dirty="0">
                <a:solidFill>
                  <a:srgbClr val="FFFFFF"/>
                </a:solidFill>
                <a:latin typeface="Cambria"/>
                <a:cs typeface="Cambria"/>
              </a:rPr>
              <a:t>Page</a:t>
            </a:r>
            <a:r>
              <a:rPr sz="1800" b="1" spc="65" dirty="0">
                <a:solidFill>
                  <a:srgbClr val="FFFFFF"/>
                </a:solidFill>
                <a:latin typeface="Cambria"/>
                <a:cs typeface="Cambria"/>
              </a:rPr>
              <a:t> </a:t>
            </a:r>
            <a:r>
              <a:rPr sz="1800" b="1" dirty="0">
                <a:solidFill>
                  <a:srgbClr val="FFFFFF"/>
                </a:solidFill>
                <a:latin typeface="Cambria"/>
                <a:cs typeface="Cambria"/>
              </a:rPr>
              <a:t>-</a:t>
            </a:r>
            <a:r>
              <a:rPr sz="1800" b="1" spc="70" dirty="0">
                <a:solidFill>
                  <a:srgbClr val="FFFFFF"/>
                </a:solidFill>
                <a:latin typeface="Cambria"/>
                <a:cs typeface="Cambria"/>
              </a:rPr>
              <a:t> </a:t>
            </a:r>
            <a:r>
              <a:rPr lang="en-IN" b="1" spc="-35" dirty="0">
                <a:solidFill>
                  <a:srgbClr val="FFFFFF"/>
                </a:solidFill>
                <a:latin typeface="Cambria"/>
                <a:cs typeface="Cambria"/>
              </a:rPr>
              <a:t>2</a:t>
            </a:r>
            <a:r>
              <a:rPr sz="1800" b="1" spc="-35" dirty="0">
                <a:solidFill>
                  <a:srgbClr val="FFFFFF"/>
                </a:solidFill>
                <a:latin typeface="Cambria"/>
                <a:cs typeface="Cambria"/>
              </a:rPr>
              <a:t>2</a:t>
            </a:r>
            <a:endParaRPr sz="1800" dirty="0">
              <a:latin typeface="Cambria"/>
              <a:cs typeface="Cambri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1203</TotalTime>
  <Words>2051</Words>
  <Application>Microsoft Office PowerPoint</Application>
  <PresentationFormat>Widescreen</PresentationFormat>
  <Paragraphs>290</Paragraphs>
  <Slides>25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Aptos</vt:lpstr>
      <vt:lpstr>Aptos Display</vt:lpstr>
      <vt:lpstr>Arial</vt:lpstr>
      <vt:lpstr>Arial MT</vt:lpstr>
      <vt:lpstr>Arial Rounded MT Bold</vt:lpstr>
      <vt:lpstr>Calibri</vt:lpstr>
      <vt:lpstr>Cambria</vt:lpstr>
      <vt:lpstr>Eras Bold ITC</vt:lpstr>
      <vt:lpstr>Times New Roman</vt:lpstr>
      <vt:lpstr>Wingdings</vt:lpstr>
      <vt:lpstr>Office Theme</vt:lpstr>
      <vt:lpstr>Project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CHITRA DEY</dc:creator>
  <cp:lastModifiedBy>SUBHENDU MAITY</cp:lastModifiedBy>
  <cp:revision>11</cp:revision>
  <dcterms:created xsi:type="dcterms:W3CDTF">2025-10-15T16:15:31Z</dcterms:created>
  <dcterms:modified xsi:type="dcterms:W3CDTF">2026-06-14T04:07:18Z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2025-06-18T00:00:00Z</vt:filetime>
  </property>
  <property fmtid="{D5CDD505-2E9C-101B-9397-08002B2CF9AE}" pid="3" name="Creator">
    <vt:lpwstr>Microsoft® PowerPoint® 2019</vt:lpwstr>
  </property>
  <property fmtid="{D5CDD505-2E9C-101B-9397-08002B2CF9AE}" pid="4" name="LastSaved">
    <vt:filetime>2025-10-15T00:00:00Z</vt:filetime>
  </property>
  <property fmtid="{D5CDD505-2E9C-101B-9397-08002B2CF9AE}" pid="5" name="Producer">
    <vt:lpwstr>Microsoft® PowerPoint® 2019</vt:lpwstr>
  </property>
</Properties>
</file>